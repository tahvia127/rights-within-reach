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Latahvia. My project is Rights Within Reach, a free, multilingual web app that helps everyday Illinois residents understand their legal rights around housing, money, home repairs, and public benefits. Every answer is in plain language, in their language, and cites the actual law. I'll walk you through what it is, why it matters, how it works, and where it's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it? In one sentence: Rights Within Reach is a free web app that answers everyday legal questions in plain language, cites the law, and connects you to real help. It's built for the people who fall through the cracks, working families facing eviction or debt, immigrants who don't speak English, older homeowners, and really anyone facing a legal problem without a lawyer.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Three walls stand between people and their rights. First, cost, lawyers are hundreds of dollars an hour, so most people face these problems alone. Second, language, legal information is written for lawyers and is mostly English-only, in a state where millions speak another language at home. And third, the stakes are high: a missed deadline or an unknown right can mean losing your home, your heat, or a benefit you depend on. Rights Within Reach lowers all three walls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 works, in four steps. One: you ask a question, typed or spoken, in any of five languages. Two: the AI searches a curated library of Illinois legal sources to find the relevant law. Three: you get a plain-language answer with the law it's based on and a confidence rating. And four: it points you to a real, verified, free organization near you, matched by your ZIP code or area. [If demoing: let me show you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pipeline behind a single answer. Your question, in any language, becomes a search over a curated library of real Illinois legal sources. Claude reads the most relevant sources, grades how confident it is, and refuses anything out of scope. It returns a plain-language answer with the exact law cited and a confidence rating. And it always ends by pointing you to a real, verified, free organization near you. That referral comes from a directory of over 40 organizations, matched to your area by ZIP, and the legal sources are re-checked and re-loaded every day, so the information stays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that simple flow is a lot of care. Answers come in five languages that auto-detect from the browser, with read-aloud and voice input for low-literacy users. Every answer cites its sources and shows a confidence rating. There's a find-help-near-you tool, a deadline calculator, large-text and high-contrast modes, and it works on a phone, even offline. It's private, no login, no data collected, and it knows its limits: it refuses questions outside its scope and always says this is information,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 I use AI? Absolutely, in two ways. In the product, the answer engine runs on Claude. But it's not just a chatbot: it retrieves from a curated library of real legal sources, grades its own confidence, cites every source, and refuses anything out of scope, that's what keeps it grounded and trustworthy. And in building it, I used Claude Code as a pair-programmer for features, tests, and first-draft translations, all clearly labeled as machine-assisted and pending native-speaker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did I learn? The hardest part wasn't the AI, it was making the AI trustworthy for something as high-stakes as legal information: grounding every answer in real sources, adding a confidence gate, and teaching it to refuse instead of guess. What surprised me most is that the design matters as much as the model, plain language, translation, and accessibility are what make it truly usable. And what I'm proudest of is that it cites real Illinois law and connects people to real, verified help, for someone on a phone, in Spanish, in a hard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Where's it going? Yes, I plan to keep building. Next up: native-speaker review of every translation, deploying it publicly so anyone can use a live link, and adding topics like workers' rights and immigration referrals. Bigger picture, I want to partner with legal-aid organizations and pilot it with a real community group, finish the design refresh with real photography, and expand coverage statewide. The goal is to go from a showcase project to something that actually helps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nobody should have to face an eviction, a debt, or a benefits denial alone, in a language they don't speak. Rights Within Reach puts a plain, cited, trustworthy legal answer, and a real person to call, within reach of anyone, in their language. Thank you so much, I'd love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3EBE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E"/>
        </a:solidFill>
      </p:bgPr>
    </p:bg>
    <p:spTree>
      <p:nvGrpSpPr>
        <p:cNvPr id="1" name=""/>
        <p:cNvGrpSpPr/>
        <p:nvPr/>
      </p:nvGrpSpPr>
      <p:grpSpPr>
        <a:xfrm>
          <a:off x="0" y="0"/>
          <a:ext cx="0" cy="0"/>
          <a:chOff x="0" y="0"/>
          <a:chExt cx="0" cy="0"/>
        </a:xfrm>
      </p:grpSpPr>
      <p:sp>
        <p:nvSpPr>
          <p:cNvPr id="2" name="Text 0"/>
          <p:cNvSpPr/>
          <p:nvPr/>
        </p:nvSpPr>
        <p:spPr>
          <a:xfrm>
            <a:off x="822960" y="1965960"/>
            <a:ext cx="10515600" cy="1097280"/>
          </a:xfrm>
          <a:prstGeom prst="rect">
            <a:avLst/>
          </a:prstGeom>
          <a:noFill/>
          <a:ln/>
        </p:spPr>
        <p:txBody>
          <a:bodyPr wrap="square" lIns="0" tIns="0" rIns="0" bIns="0" rtlCol="0" anchor="ctr"/>
          <a:lstStyle/>
          <a:p>
            <a:pPr indent="0" marL="0">
              <a:buNone/>
            </a:pPr>
            <a:r>
              <a:rPr lang="en-US" sz="6000" b="1" dirty="0">
                <a:solidFill>
                  <a:srgbClr val="F3EBE0"/>
                </a:solidFill>
                <a:latin typeface="Cambria" pitchFamily="34" charset="0"/>
                <a:ea typeface="Cambria" pitchFamily="34" charset="-122"/>
                <a:cs typeface="Cambria" pitchFamily="34" charset="-120"/>
              </a:rPr>
              <a:t>Rights Within Reach</a:t>
            </a:r>
            <a:endParaRPr lang="en-US" sz="6000" dirty="0"/>
          </a:p>
        </p:txBody>
      </p:sp>
      <p:sp>
        <p:nvSpPr>
          <p:cNvPr id="3" name="Text 1"/>
          <p:cNvSpPr/>
          <p:nvPr/>
        </p:nvSpPr>
        <p:spPr>
          <a:xfrm>
            <a:off x="841248" y="3063240"/>
            <a:ext cx="10515600" cy="548640"/>
          </a:xfrm>
          <a:prstGeom prst="rect">
            <a:avLst/>
          </a:prstGeom>
          <a:noFill/>
          <a:ln/>
        </p:spPr>
        <p:txBody>
          <a:bodyPr wrap="square" lIns="0" tIns="0" rIns="0" bIns="0" rtlCol="0" anchor="ctr"/>
          <a:lstStyle/>
          <a:p>
            <a:pPr indent="0" marL="0">
              <a:buNone/>
            </a:pPr>
            <a:r>
              <a:rPr lang="en-US" sz="2600" i="1" dirty="0">
                <a:solidFill>
                  <a:srgbClr val="8FB98C"/>
                </a:solidFill>
                <a:latin typeface="Cambria" pitchFamily="34" charset="0"/>
                <a:ea typeface="Cambria" pitchFamily="34" charset="-122"/>
                <a:cs typeface="Cambria" pitchFamily="34" charset="-120"/>
              </a:rPr>
              <a:t>Know your rights. In your language.</a:t>
            </a:r>
            <a:endParaRPr lang="en-US" sz="2600" dirty="0"/>
          </a:p>
        </p:txBody>
      </p:sp>
      <p:sp>
        <p:nvSpPr>
          <p:cNvPr id="4" name="Text 2"/>
          <p:cNvSpPr/>
          <p:nvPr/>
        </p:nvSpPr>
        <p:spPr>
          <a:xfrm>
            <a:off x="841248" y="3703320"/>
            <a:ext cx="9692640" cy="457200"/>
          </a:xfrm>
          <a:prstGeom prst="rect">
            <a:avLst/>
          </a:prstGeom>
          <a:noFill/>
          <a:ln/>
        </p:spPr>
        <p:txBody>
          <a:bodyPr wrap="square" lIns="0" tIns="0" rIns="0" bIns="0" rtlCol="0" anchor="ctr"/>
          <a:lstStyle/>
          <a:p>
            <a:pPr indent="0" marL="0">
              <a:buNone/>
            </a:pPr>
            <a:r>
              <a:rPr lang="en-US" sz="1600" dirty="0">
                <a:solidFill>
                  <a:srgbClr val="CFC7BB"/>
                </a:solidFill>
                <a:latin typeface="Calibri" pitchFamily="34" charset="0"/>
                <a:ea typeface="Calibri" pitchFamily="34" charset="-122"/>
                <a:cs typeface="Calibri" pitchFamily="34" charset="-120"/>
              </a:rPr>
              <a:t>Free, plain-language legal information for Illinois residents, in 5 languages, cited to the law.</a:t>
            </a:r>
            <a:endParaRPr lang="en-US" sz="1600" dirty="0"/>
          </a:p>
        </p:txBody>
      </p:sp>
      <p:sp>
        <p:nvSpPr>
          <p:cNvPr id="5" name="Shape 3"/>
          <p:cNvSpPr/>
          <p:nvPr/>
        </p:nvSpPr>
        <p:spPr>
          <a:xfrm>
            <a:off x="841248" y="4709160"/>
            <a:ext cx="603504" cy="603504"/>
          </a:xfrm>
          <a:prstGeom prst="ellipse">
            <a:avLst/>
          </a:prstGeom>
          <a:solidFill>
            <a:srgbClr val="6B1F2E"/>
          </a:solidFill>
          <a:ln/>
        </p:spPr>
      </p:sp>
      <p:pic>
        <p:nvPicPr>
          <p:cNvPr id="6" name="Image 0" descr="preencoded.png">    </p:cNvPr>
          <p:cNvPicPr>
            <a:picLocks noChangeAspect="1"/>
          </p:cNvPicPr>
          <p:nvPr/>
        </p:nvPicPr>
        <p:blipFill>
          <a:blip r:embed="rId1"/>
          <a:stretch>
            <a:fillRect/>
          </a:stretch>
        </p:blipFill>
        <p:spPr>
          <a:xfrm>
            <a:off x="992124" y="4860036"/>
            <a:ext cx="301752" cy="301752"/>
          </a:xfrm>
          <a:prstGeom prst="rect">
            <a:avLst/>
          </a:prstGeom>
        </p:spPr>
      </p:pic>
      <p:sp>
        <p:nvSpPr>
          <p:cNvPr id="7" name="Shape 4"/>
          <p:cNvSpPr/>
          <p:nvPr/>
        </p:nvSpPr>
        <p:spPr>
          <a:xfrm>
            <a:off x="1618488" y="4709160"/>
            <a:ext cx="603504" cy="603504"/>
          </a:xfrm>
          <a:prstGeom prst="ellipse">
            <a:avLst/>
          </a:prstGeom>
          <a:solidFill>
            <a:srgbClr val="3D6B3A"/>
          </a:solidFill>
          <a:ln/>
        </p:spPr>
      </p:sp>
      <p:pic>
        <p:nvPicPr>
          <p:cNvPr id="8" name="Image 1" descr="preencoded.png">    </p:cNvPr>
          <p:cNvPicPr>
            <a:picLocks noChangeAspect="1"/>
          </p:cNvPicPr>
          <p:nvPr/>
        </p:nvPicPr>
        <p:blipFill>
          <a:blip r:embed="rId2"/>
          <a:stretch>
            <a:fillRect/>
          </a:stretch>
        </p:blipFill>
        <p:spPr>
          <a:xfrm>
            <a:off x="1769364" y="4860036"/>
            <a:ext cx="301752" cy="301752"/>
          </a:xfrm>
          <a:prstGeom prst="rect">
            <a:avLst/>
          </a:prstGeom>
        </p:spPr>
      </p:pic>
      <p:sp>
        <p:nvSpPr>
          <p:cNvPr id="9" name="Shape 5"/>
          <p:cNvSpPr/>
          <p:nvPr/>
        </p:nvSpPr>
        <p:spPr>
          <a:xfrm>
            <a:off x="2395728" y="4709160"/>
            <a:ext cx="603504" cy="603504"/>
          </a:xfrm>
          <a:prstGeom prst="ellipse">
            <a:avLst/>
          </a:prstGeom>
          <a:solidFill>
            <a:srgbClr val="6B1F2E"/>
          </a:solidFill>
          <a:ln/>
        </p:spPr>
      </p:sp>
      <p:pic>
        <p:nvPicPr>
          <p:cNvPr id="10" name="Image 2" descr="preencoded.png">    </p:cNvPr>
          <p:cNvPicPr>
            <a:picLocks noChangeAspect="1"/>
          </p:cNvPicPr>
          <p:nvPr/>
        </p:nvPicPr>
        <p:blipFill>
          <a:blip r:embed="rId3"/>
          <a:stretch>
            <a:fillRect/>
          </a:stretch>
        </p:blipFill>
        <p:spPr>
          <a:xfrm>
            <a:off x="2546604" y="4860036"/>
            <a:ext cx="301752" cy="301752"/>
          </a:xfrm>
          <a:prstGeom prst="rect">
            <a:avLst/>
          </a:prstGeom>
        </p:spPr>
      </p:pic>
      <p:sp>
        <p:nvSpPr>
          <p:cNvPr id="11" name="Shape 6"/>
          <p:cNvSpPr/>
          <p:nvPr/>
        </p:nvSpPr>
        <p:spPr>
          <a:xfrm>
            <a:off x="3172968" y="4709160"/>
            <a:ext cx="603504" cy="603504"/>
          </a:xfrm>
          <a:prstGeom prst="ellipse">
            <a:avLst/>
          </a:prstGeom>
          <a:solidFill>
            <a:srgbClr val="3D6B3A"/>
          </a:solidFill>
          <a:ln/>
        </p:spPr>
      </p:sp>
      <p:pic>
        <p:nvPicPr>
          <p:cNvPr id="12" name="Image 3" descr="preencoded.png">    </p:cNvPr>
          <p:cNvPicPr>
            <a:picLocks noChangeAspect="1"/>
          </p:cNvPicPr>
          <p:nvPr/>
        </p:nvPicPr>
        <p:blipFill>
          <a:blip r:embed="rId4"/>
          <a:stretch>
            <a:fillRect/>
          </a:stretch>
        </p:blipFill>
        <p:spPr>
          <a:xfrm>
            <a:off x="3323844" y="4860036"/>
            <a:ext cx="301752" cy="301752"/>
          </a:xfrm>
          <a:prstGeom prst="rect">
            <a:avLst/>
          </a:prstGeom>
        </p:spPr>
      </p:pic>
      <p:sp>
        <p:nvSpPr>
          <p:cNvPr id="13" name="Text 7"/>
          <p:cNvSpPr/>
          <p:nvPr/>
        </p:nvSpPr>
        <p:spPr>
          <a:xfrm>
            <a:off x="841248" y="5989320"/>
            <a:ext cx="10515600" cy="365760"/>
          </a:xfrm>
          <a:prstGeom prst="rect">
            <a:avLst/>
          </a:prstGeom>
          <a:noFill/>
          <a:ln/>
        </p:spPr>
        <p:txBody>
          <a:bodyPr wrap="square" lIns="0" tIns="0" rIns="0" bIns="0" rtlCol="0" anchor="ctr"/>
          <a:lstStyle/>
          <a:p>
            <a:pPr indent="0" marL="0">
              <a:buNone/>
            </a:pPr>
            <a:r>
              <a:rPr lang="en-US" sz="1400" dirty="0">
                <a:solidFill>
                  <a:srgbClr val="CFC7BB"/>
                </a:solidFill>
                <a:latin typeface="Calibri" pitchFamily="34" charset="0"/>
                <a:ea typeface="Calibri" pitchFamily="34" charset="-122"/>
                <a:cs typeface="Calibri" pitchFamily="34" charset="-120"/>
              </a:rPr>
              <a:t>Latahvia Williams   ·   University of Chicago Tech Showcase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BE0"/>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200" b="1" spc="200" kern="0" dirty="0">
                <a:solidFill>
                  <a:srgbClr val="6B1F2E"/>
                </a:solidFill>
                <a:latin typeface="Calibri" pitchFamily="34" charset="0"/>
                <a:ea typeface="Calibri" pitchFamily="34" charset="-122"/>
                <a:cs typeface="Calibri" pitchFamily="34" charset="-120"/>
              </a:rPr>
              <a:t>WHAT I BUILT</a:t>
            </a:r>
            <a:endParaRPr lang="en-US" sz="1200" dirty="0"/>
          </a:p>
        </p:txBody>
      </p:sp>
      <p:sp>
        <p:nvSpPr>
          <p:cNvPr id="3" name="Text 1"/>
          <p:cNvSpPr/>
          <p:nvPr/>
        </p:nvSpPr>
        <p:spPr>
          <a:xfrm>
            <a:off x="822960" y="960120"/>
            <a:ext cx="11247120" cy="822960"/>
          </a:xfrm>
          <a:prstGeom prst="rect">
            <a:avLst/>
          </a:prstGeom>
          <a:noFill/>
          <a:ln/>
        </p:spPr>
        <p:txBody>
          <a:bodyPr wrap="square" lIns="0" tIns="0" rIns="0" bIns="0" rtlCol="0" anchor="ctr"/>
          <a:lstStyle/>
          <a:p>
            <a:pPr indent="0" marL="0">
              <a:buNone/>
            </a:pPr>
            <a:r>
              <a:rPr lang="en-US" sz="3800" b="1" dirty="0">
                <a:solidFill>
                  <a:srgbClr val="15233E"/>
                </a:solidFill>
                <a:latin typeface="Cambria" pitchFamily="34" charset="0"/>
                <a:ea typeface="Cambria" pitchFamily="34" charset="-122"/>
                <a:cs typeface="Cambria" pitchFamily="34" charset="-120"/>
              </a:rPr>
              <a:t>One clear answer, in your language</a:t>
            </a:r>
            <a:endParaRPr lang="en-US" sz="3800" dirty="0"/>
          </a:p>
        </p:txBody>
      </p:sp>
      <p:sp>
        <p:nvSpPr>
          <p:cNvPr id="4" name="Text 2"/>
          <p:cNvSpPr/>
          <p:nvPr/>
        </p:nvSpPr>
        <p:spPr>
          <a:xfrm>
            <a:off x="822960" y="1828800"/>
            <a:ext cx="10515600" cy="1005840"/>
          </a:xfrm>
          <a:prstGeom prst="rect">
            <a:avLst/>
          </a:prstGeom>
          <a:noFill/>
          <a:ln/>
        </p:spPr>
        <p:txBody>
          <a:bodyPr wrap="square" lIns="0" tIns="0" rIns="0" bIns="0" rtlCol="0" anchor="ctr"/>
          <a:lstStyle/>
          <a:p>
            <a:pPr indent="0" marL="0">
              <a:lnSpc>
                <a:spcPct val="115000"/>
              </a:lnSpc>
              <a:buNone/>
            </a:pPr>
            <a:r>
              <a:rPr lang="en-US" sz="1700" dirty="0">
                <a:solidFill>
                  <a:srgbClr val="1F1A14"/>
                </a:solidFill>
                <a:latin typeface="Calibri" pitchFamily="34" charset="0"/>
                <a:ea typeface="Calibri" pitchFamily="34" charset="-122"/>
                <a:cs typeface="Calibri" pitchFamily="34" charset="-120"/>
              </a:rPr>
              <a:t>A free web app that answers everyday legal questions, about housing &amp; rent, money &amp; debt, home repairs, and public benefits, in plain language, cites the law behind the answer, and points you to a real, verified organization for help.</a:t>
            </a:r>
            <a:endParaRPr lang="en-US" sz="1700" dirty="0"/>
          </a:p>
        </p:txBody>
      </p:sp>
      <p:sp>
        <p:nvSpPr>
          <p:cNvPr id="5" name="Text 3"/>
          <p:cNvSpPr/>
          <p:nvPr/>
        </p:nvSpPr>
        <p:spPr>
          <a:xfrm>
            <a:off x="822960" y="3063240"/>
            <a:ext cx="7315200" cy="274320"/>
          </a:xfrm>
          <a:prstGeom prst="rect">
            <a:avLst/>
          </a:prstGeom>
          <a:noFill/>
          <a:ln/>
        </p:spPr>
        <p:txBody>
          <a:bodyPr wrap="square" lIns="0" tIns="0" rIns="0" bIns="0" rtlCol="0" anchor="ctr"/>
          <a:lstStyle/>
          <a:p>
            <a:pPr indent="0" marL="0">
              <a:buNone/>
            </a:pPr>
            <a:r>
              <a:rPr lang="en-US" sz="1200" b="1" spc="200" kern="0" dirty="0">
                <a:solidFill>
                  <a:srgbClr val="3D6B3A"/>
                </a:solidFill>
                <a:latin typeface="Calibri" pitchFamily="34" charset="0"/>
                <a:ea typeface="Calibri" pitchFamily="34" charset="-122"/>
                <a:cs typeface="Calibri" pitchFamily="34" charset="-120"/>
              </a:rPr>
              <a:t>WHO IT’S FOR</a:t>
            </a:r>
            <a:endParaRPr lang="en-US" sz="1200" dirty="0"/>
          </a:p>
        </p:txBody>
      </p:sp>
      <p:sp>
        <p:nvSpPr>
          <p:cNvPr id="6" name="Shape 4"/>
          <p:cNvSpPr/>
          <p:nvPr/>
        </p:nvSpPr>
        <p:spPr>
          <a:xfrm>
            <a:off x="822960" y="3566160"/>
            <a:ext cx="566928" cy="566928"/>
          </a:xfrm>
          <a:prstGeom prst="ellipse">
            <a:avLst/>
          </a:prstGeom>
          <a:solidFill>
            <a:srgbClr val="6B1F2E"/>
          </a:solidFill>
          <a:ln/>
        </p:spPr>
      </p:sp>
      <p:pic>
        <p:nvPicPr>
          <p:cNvPr id="7" name="Image 0" descr="preencoded.png">    </p:cNvPr>
          <p:cNvPicPr>
            <a:picLocks noChangeAspect="1"/>
          </p:cNvPicPr>
          <p:nvPr/>
        </p:nvPicPr>
        <p:blipFill>
          <a:blip r:embed="rId1"/>
          <a:stretch>
            <a:fillRect/>
          </a:stretch>
        </p:blipFill>
        <p:spPr>
          <a:xfrm>
            <a:off x="964692" y="3707892"/>
            <a:ext cx="283464" cy="283464"/>
          </a:xfrm>
          <a:prstGeom prst="rect">
            <a:avLst/>
          </a:prstGeom>
        </p:spPr>
      </p:pic>
      <p:sp>
        <p:nvSpPr>
          <p:cNvPr id="8" name="Text 5"/>
          <p:cNvSpPr/>
          <p:nvPr/>
        </p:nvSpPr>
        <p:spPr>
          <a:xfrm>
            <a:off x="1554480" y="3520440"/>
            <a:ext cx="448056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Working families</a:t>
            </a:r>
            <a:endParaRPr lang="en-US" sz="1500" dirty="0"/>
          </a:p>
        </p:txBody>
      </p:sp>
      <p:sp>
        <p:nvSpPr>
          <p:cNvPr id="9" name="Text 6"/>
          <p:cNvSpPr/>
          <p:nvPr/>
        </p:nvSpPr>
        <p:spPr>
          <a:xfrm>
            <a:off x="1554480" y="3840480"/>
            <a:ext cx="448056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Facing eviction, debt, or a benefits denial</a:t>
            </a:r>
            <a:endParaRPr lang="en-US" sz="1250" dirty="0"/>
          </a:p>
        </p:txBody>
      </p:sp>
      <p:sp>
        <p:nvSpPr>
          <p:cNvPr id="10" name="Shape 7"/>
          <p:cNvSpPr/>
          <p:nvPr/>
        </p:nvSpPr>
        <p:spPr>
          <a:xfrm>
            <a:off x="6309360" y="3566160"/>
            <a:ext cx="566928" cy="566928"/>
          </a:xfrm>
          <a:prstGeom prst="ellipse">
            <a:avLst/>
          </a:prstGeom>
          <a:solidFill>
            <a:srgbClr val="3D6B3A"/>
          </a:solidFill>
          <a:ln/>
        </p:spPr>
      </p:sp>
      <p:pic>
        <p:nvPicPr>
          <p:cNvPr id="11" name="Image 1" descr="preencoded.png">    </p:cNvPr>
          <p:cNvPicPr>
            <a:picLocks noChangeAspect="1"/>
          </p:cNvPicPr>
          <p:nvPr/>
        </p:nvPicPr>
        <p:blipFill>
          <a:blip r:embed="rId2"/>
          <a:stretch>
            <a:fillRect/>
          </a:stretch>
        </p:blipFill>
        <p:spPr>
          <a:xfrm>
            <a:off x="6451092" y="3707892"/>
            <a:ext cx="283464" cy="283464"/>
          </a:xfrm>
          <a:prstGeom prst="rect">
            <a:avLst/>
          </a:prstGeom>
        </p:spPr>
      </p:pic>
      <p:sp>
        <p:nvSpPr>
          <p:cNvPr id="12" name="Text 8"/>
          <p:cNvSpPr/>
          <p:nvPr/>
        </p:nvSpPr>
        <p:spPr>
          <a:xfrm>
            <a:off x="7040880" y="3520440"/>
            <a:ext cx="448056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Immigrants &amp; non-English speakers</a:t>
            </a:r>
            <a:endParaRPr lang="en-US" sz="1500" dirty="0"/>
          </a:p>
        </p:txBody>
      </p:sp>
      <p:sp>
        <p:nvSpPr>
          <p:cNvPr id="13" name="Text 9"/>
          <p:cNvSpPr/>
          <p:nvPr/>
        </p:nvSpPr>
        <p:spPr>
          <a:xfrm>
            <a:off x="7040880" y="3840480"/>
            <a:ext cx="448056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Answers in 5 languages, read aloud</a:t>
            </a:r>
            <a:endParaRPr lang="en-US" sz="1250" dirty="0"/>
          </a:p>
        </p:txBody>
      </p:sp>
      <p:sp>
        <p:nvSpPr>
          <p:cNvPr id="14" name="Shape 10"/>
          <p:cNvSpPr/>
          <p:nvPr/>
        </p:nvSpPr>
        <p:spPr>
          <a:xfrm>
            <a:off x="822960" y="4709160"/>
            <a:ext cx="566928" cy="566928"/>
          </a:xfrm>
          <a:prstGeom prst="ellipse">
            <a:avLst/>
          </a:prstGeom>
          <a:solidFill>
            <a:srgbClr val="6B1F2E"/>
          </a:solidFill>
          <a:ln/>
        </p:spPr>
      </p:sp>
      <p:pic>
        <p:nvPicPr>
          <p:cNvPr id="15" name="Image 2" descr="preencoded.png">    </p:cNvPr>
          <p:cNvPicPr>
            <a:picLocks noChangeAspect="1"/>
          </p:cNvPicPr>
          <p:nvPr/>
        </p:nvPicPr>
        <p:blipFill>
          <a:blip r:embed="rId3"/>
          <a:stretch>
            <a:fillRect/>
          </a:stretch>
        </p:blipFill>
        <p:spPr>
          <a:xfrm>
            <a:off x="964692" y="4850892"/>
            <a:ext cx="283464" cy="283464"/>
          </a:xfrm>
          <a:prstGeom prst="rect">
            <a:avLst/>
          </a:prstGeom>
        </p:spPr>
      </p:pic>
      <p:sp>
        <p:nvSpPr>
          <p:cNvPr id="16" name="Text 11"/>
          <p:cNvSpPr/>
          <p:nvPr/>
        </p:nvSpPr>
        <p:spPr>
          <a:xfrm>
            <a:off x="1554480" y="4663440"/>
            <a:ext cx="448056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Older homeowners</a:t>
            </a:r>
            <a:endParaRPr lang="en-US" sz="1500" dirty="0"/>
          </a:p>
        </p:txBody>
      </p:sp>
      <p:sp>
        <p:nvSpPr>
          <p:cNvPr id="17" name="Text 12"/>
          <p:cNvSpPr/>
          <p:nvPr/>
        </p:nvSpPr>
        <p:spPr>
          <a:xfrm>
            <a:off x="1554480" y="4983480"/>
            <a:ext cx="448056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Home-repair grants and utility help</a:t>
            </a:r>
            <a:endParaRPr lang="en-US" sz="1250" dirty="0"/>
          </a:p>
        </p:txBody>
      </p:sp>
      <p:sp>
        <p:nvSpPr>
          <p:cNvPr id="18" name="Shape 13"/>
          <p:cNvSpPr/>
          <p:nvPr/>
        </p:nvSpPr>
        <p:spPr>
          <a:xfrm>
            <a:off x="6309360" y="4709160"/>
            <a:ext cx="566928" cy="566928"/>
          </a:xfrm>
          <a:prstGeom prst="ellipse">
            <a:avLst/>
          </a:prstGeom>
          <a:solidFill>
            <a:srgbClr val="3D6B3A"/>
          </a:solidFill>
          <a:ln/>
        </p:spPr>
      </p:sp>
      <p:pic>
        <p:nvPicPr>
          <p:cNvPr id="19" name="Image 3" descr="preencoded.png">    </p:cNvPr>
          <p:cNvPicPr>
            <a:picLocks noChangeAspect="1"/>
          </p:cNvPicPr>
          <p:nvPr/>
        </p:nvPicPr>
        <p:blipFill>
          <a:blip r:embed="rId4"/>
          <a:stretch>
            <a:fillRect/>
          </a:stretch>
        </p:blipFill>
        <p:spPr>
          <a:xfrm>
            <a:off x="6451092" y="4850892"/>
            <a:ext cx="283464" cy="283464"/>
          </a:xfrm>
          <a:prstGeom prst="rect">
            <a:avLst/>
          </a:prstGeom>
        </p:spPr>
      </p:pic>
      <p:sp>
        <p:nvSpPr>
          <p:cNvPr id="20" name="Text 14"/>
          <p:cNvSpPr/>
          <p:nvPr/>
        </p:nvSpPr>
        <p:spPr>
          <a:xfrm>
            <a:off x="7040880" y="4663440"/>
            <a:ext cx="448056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Anyone without a lawyer</a:t>
            </a:r>
            <a:endParaRPr lang="en-US" sz="1500" dirty="0"/>
          </a:p>
        </p:txBody>
      </p:sp>
      <p:sp>
        <p:nvSpPr>
          <p:cNvPr id="21" name="Text 15"/>
          <p:cNvSpPr/>
          <p:nvPr/>
        </p:nvSpPr>
        <p:spPr>
          <a:xfrm>
            <a:off x="7040880" y="4983480"/>
            <a:ext cx="448056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Plain guidance at the moment they need it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233E"/>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200" b="1" spc="200" kern="0" dirty="0">
                <a:solidFill>
                  <a:srgbClr val="8FB98C"/>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822960" y="960120"/>
            <a:ext cx="11247120" cy="822960"/>
          </a:xfrm>
          <a:prstGeom prst="rect">
            <a:avLst/>
          </a:prstGeom>
          <a:noFill/>
          <a:ln/>
        </p:spPr>
        <p:txBody>
          <a:bodyPr wrap="square" lIns="0" tIns="0" rIns="0" bIns="0" rtlCol="0" anchor="ctr"/>
          <a:lstStyle/>
          <a:p>
            <a:pPr indent="0" marL="0">
              <a:buNone/>
            </a:pPr>
            <a:r>
              <a:rPr lang="en-US" sz="3800" b="1" dirty="0">
                <a:solidFill>
                  <a:srgbClr val="F3EBE0"/>
                </a:solidFill>
                <a:latin typeface="Cambria" pitchFamily="34" charset="0"/>
                <a:ea typeface="Cambria" pitchFamily="34" charset="-122"/>
                <a:cs typeface="Cambria" pitchFamily="34" charset="-120"/>
              </a:rPr>
              <a:t>Legal help is out of reach for most people</a:t>
            </a:r>
            <a:endParaRPr lang="en-US" sz="3800" dirty="0"/>
          </a:p>
        </p:txBody>
      </p:sp>
      <p:sp>
        <p:nvSpPr>
          <p:cNvPr id="4" name="Shape 2"/>
          <p:cNvSpPr/>
          <p:nvPr/>
        </p:nvSpPr>
        <p:spPr>
          <a:xfrm>
            <a:off x="822960" y="2148840"/>
            <a:ext cx="731520" cy="731520"/>
          </a:xfrm>
          <a:prstGeom prst="ellipse">
            <a:avLst/>
          </a:prstGeom>
          <a:solidFill>
            <a:srgbClr val="6B1F2E"/>
          </a:solidFill>
          <a:ln/>
        </p:spPr>
      </p:sp>
      <p:pic>
        <p:nvPicPr>
          <p:cNvPr id="5" name="Image 0" descr="preencoded.png">    </p:cNvPr>
          <p:cNvPicPr>
            <a:picLocks noChangeAspect="1"/>
          </p:cNvPicPr>
          <p:nvPr/>
        </p:nvPicPr>
        <p:blipFill>
          <a:blip r:embed="rId1"/>
          <a:stretch>
            <a:fillRect/>
          </a:stretch>
        </p:blipFill>
        <p:spPr>
          <a:xfrm>
            <a:off x="1005840" y="2331720"/>
            <a:ext cx="365760" cy="365760"/>
          </a:xfrm>
          <a:prstGeom prst="rect">
            <a:avLst/>
          </a:prstGeom>
        </p:spPr>
      </p:pic>
      <p:sp>
        <p:nvSpPr>
          <p:cNvPr id="6" name="Text 3"/>
          <p:cNvSpPr/>
          <p:nvPr/>
        </p:nvSpPr>
        <p:spPr>
          <a:xfrm>
            <a:off x="1783080" y="2103120"/>
            <a:ext cx="9509760" cy="365760"/>
          </a:xfrm>
          <a:prstGeom prst="rect">
            <a:avLst/>
          </a:prstGeom>
          <a:noFill/>
          <a:ln/>
        </p:spPr>
        <p:txBody>
          <a:bodyPr wrap="square" lIns="0" tIns="0" rIns="0" bIns="0" rtlCol="0" anchor="ctr"/>
          <a:lstStyle/>
          <a:p>
            <a:pPr indent="0" marL="0">
              <a:buNone/>
            </a:pPr>
            <a:r>
              <a:rPr lang="en-US" sz="1800" b="1" dirty="0">
                <a:solidFill>
                  <a:srgbClr val="F3EBE0"/>
                </a:solidFill>
                <a:latin typeface="Calibri" pitchFamily="34" charset="0"/>
                <a:ea typeface="Calibri" pitchFamily="34" charset="-122"/>
                <a:cs typeface="Calibri" pitchFamily="34" charset="-120"/>
              </a:rPr>
              <a:t>Cost is a wall</a:t>
            </a:r>
            <a:endParaRPr lang="en-US" sz="1800" dirty="0"/>
          </a:p>
        </p:txBody>
      </p:sp>
      <p:sp>
        <p:nvSpPr>
          <p:cNvPr id="7" name="Text 4"/>
          <p:cNvSpPr/>
          <p:nvPr/>
        </p:nvSpPr>
        <p:spPr>
          <a:xfrm>
            <a:off x="1783080" y="2496312"/>
            <a:ext cx="9509760" cy="640080"/>
          </a:xfrm>
          <a:prstGeom prst="rect">
            <a:avLst/>
          </a:prstGeom>
          <a:noFill/>
          <a:ln/>
        </p:spPr>
        <p:txBody>
          <a:bodyPr wrap="square" lIns="0" tIns="0" rIns="0" bIns="0" rtlCol="0" anchor="ctr"/>
          <a:lstStyle/>
          <a:p>
            <a:pPr indent="0" marL="0">
              <a:lnSpc>
                <a:spcPct val="110000"/>
              </a:lnSpc>
              <a:buNone/>
            </a:pPr>
            <a:r>
              <a:rPr lang="en-US" sz="1450" dirty="0">
                <a:solidFill>
                  <a:srgbClr val="CFC7BB"/>
                </a:solidFill>
                <a:latin typeface="Calibri" pitchFamily="34" charset="0"/>
                <a:ea typeface="Calibri" pitchFamily="34" charset="-122"/>
                <a:cs typeface="Calibri" pitchFamily="34" charset="-120"/>
              </a:rPr>
              <a:t>Lawyers run $200 to 400 an hour. Most people facing housing, debt, or benefits problems go it completely alone.</a:t>
            </a:r>
            <a:endParaRPr lang="en-US" sz="1450" dirty="0"/>
          </a:p>
        </p:txBody>
      </p:sp>
      <p:sp>
        <p:nvSpPr>
          <p:cNvPr id="8" name="Shape 5"/>
          <p:cNvSpPr/>
          <p:nvPr/>
        </p:nvSpPr>
        <p:spPr>
          <a:xfrm>
            <a:off x="822960" y="3383280"/>
            <a:ext cx="731520" cy="731520"/>
          </a:xfrm>
          <a:prstGeom prst="ellipse">
            <a:avLst/>
          </a:prstGeom>
          <a:solidFill>
            <a:srgbClr val="3D6B3A"/>
          </a:solidFill>
          <a:ln/>
        </p:spPr>
      </p:sp>
      <p:pic>
        <p:nvPicPr>
          <p:cNvPr id="9" name="Image 1" descr="preencoded.png">    </p:cNvPr>
          <p:cNvPicPr>
            <a:picLocks noChangeAspect="1"/>
          </p:cNvPicPr>
          <p:nvPr/>
        </p:nvPicPr>
        <p:blipFill>
          <a:blip r:embed="rId2"/>
          <a:stretch>
            <a:fillRect/>
          </a:stretch>
        </p:blipFill>
        <p:spPr>
          <a:xfrm>
            <a:off x="1005840" y="3566160"/>
            <a:ext cx="365760" cy="365760"/>
          </a:xfrm>
          <a:prstGeom prst="rect">
            <a:avLst/>
          </a:prstGeom>
        </p:spPr>
      </p:pic>
      <p:sp>
        <p:nvSpPr>
          <p:cNvPr id="10" name="Text 6"/>
          <p:cNvSpPr/>
          <p:nvPr/>
        </p:nvSpPr>
        <p:spPr>
          <a:xfrm>
            <a:off x="1783080" y="3337560"/>
            <a:ext cx="9509760" cy="365760"/>
          </a:xfrm>
          <a:prstGeom prst="rect">
            <a:avLst/>
          </a:prstGeom>
          <a:noFill/>
          <a:ln/>
        </p:spPr>
        <p:txBody>
          <a:bodyPr wrap="square" lIns="0" tIns="0" rIns="0" bIns="0" rtlCol="0" anchor="ctr"/>
          <a:lstStyle/>
          <a:p>
            <a:pPr indent="0" marL="0">
              <a:buNone/>
            </a:pPr>
            <a:r>
              <a:rPr lang="en-US" sz="1800" b="1" dirty="0">
                <a:solidFill>
                  <a:srgbClr val="F3EBE0"/>
                </a:solidFill>
                <a:latin typeface="Calibri" pitchFamily="34" charset="0"/>
                <a:ea typeface="Calibri" pitchFamily="34" charset="-122"/>
                <a:cs typeface="Calibri" pitchFamily="34" charset="-120"/>
              </a:rPr>
              <a:t>So is the language</a:t>
            </a:r>
            <a:endParaRPr lang="en-US" sz="1800" dirty="0"/>
          </a:p>
        </p:txBody>
      </p:sp>
      <p:sp>
        <p:nvSpPr>
          <p:cNvPr id="11" name="Text 7"/>
          <p:cNvSpPr/>
          <p:nvPr/>
        </p:nvSpPr>
        <p:spPr>
          <a:xfrm>
            <a:off x="1783080" y="3730752"/>
            <a:ext cx="9509760" cy="640080"/>
          </a:xfrm>
          <a:prstGeom prst="rect">
            <a:avLst/>
          </a:prstGeom>
          <a:noFill/>
          <a:ln/>
        </p:spPr>
        <p:txBody>
          <a:bodyPr wrap="square" lIns="0" tIns="0" rIns="0" bIns="0" rtlCol="0" anchor="ctr"/>
          <a:lstStyle/>
          <a:p>
            <a:pPr indent="0" marL="0">
              <a:lnSpc>
                <a:spcPct val="110000"/>
              </a:lnSpc>
              <a:buNone/>
            </a:pPr>
            <a:r>
              <a:rPr lang="en-US" sz="1450" dirty="0">
                <a:solidFill>
                  <a:srgbClr val="CFC7BB"/>
                </a:solidFill>
                <a:latin typeface="Calibri" pitchFamily="34" charset="0"/>
                <a:ea typeface="Calibri" pitchFamily="34" charset="-122"/>
                <a:cs typeface="Calibri" pitchFamily="34" charset="-120"/>
              </a:rPr>
              <a:t>Legal information is written for lawyers and is mostly English-only, in a state where millions speak another language at home.</a:t>
            </a:r>
            <a:endParaRPr lang="en-US" sz="1450" dirty="0"/>
          </a:p>
        </p:txBody>
      </p:sp>
      <p:sp>
        <p:nvSpPr>
          <p:cNvPr id="12" name="Shape 8"/>
          <p:cNvSpPr/>
          <p:nvPr/>
        </p:nvSpPr>
        <p:spPr>
          <a:xfrm>
            <a:off x="822960" y="4617720"/>
            <a:ext cx="731520" cy="731520"/>
          </a:xfrm>
          <a:prstGeom prst="ellipse">
            <a:avLst/>
          </a:prstGeom>
          <a:solidFill>
            <a:srgbClr val="6B1F2E"/>
          </a:solidFill>
          <a:ln/>
        </p:spPr>
      </p:sp>
      <p:pic>
        <p:nvPicPr>
          <p:cNvPr id="13" name="Image 2" descr="preencoded.png">    </p:cNvPr>
          <p:cNvPicPr>
            <a:picLocks noChangeAspect="1"/>
          </p:cNvPicPr>
          <p:nvPr/>
        </p:nvPicPr>
        <p:blipFill>
          <a:blip r:embed="rId3"/>
          <a:stretch>
            <a:fillRect/>
          </a:stretch>
        </p:blipFill>
        <p:spPr>
          <a:xfrm>
            <a:off x="1005840" y="4800600"/>
            <a:ext cx="365760" cy="365760"/>
          </a:xfrm>
          <a:prstGeom prst="rect">
            <a:avLst/>
          </a:prstGeom>
        </p:spPr>
      </p:pic>
      <p:sp>
        <p:nvSpPr>
          <p:cNvPr id="14" name="Text 9"/>
          <p:cNvSpPr/>
          <p:nvPr/>
        </p:nvSpPr>
        <p:spPr>
          <a:xfrm>
            <a:off x="1783080" y="4572000"/>
            <a:ext cx="9509760" cy="365760"/>
          </a:xfrm>
          <a:prstGeom prst="rect">
            <a:avLst/>
          </a:prstGeom>
          <a:noFill/>
          <a:ln/>
        </p:spPr>
        <p:txBody>
          <a:bodyPr wrap="square" lIns="0" tIns="0" rIns="0" bIns="0" rtlCol="0" anchor="ctr"/>
          <a:lstStyle/>
          <a:p>
            <a:pPr indent="0" marL="0">
              <a:buNone/>
            </a:pPr>
            <a:r>
              <a:rPr lang="en-US" sz="1800" b="1" dirty="0">
                <a:solidFill>
                  <a:srgbClr val="F3EBE0"/>
                </a:solidFill>
                <a:latin typeface="Calibri" pitchFamily="34" charset="0"/>
                <a:ea typeface="Calibri" pitchFamily="34" charset="-122"/>
                <a:cs typeface="Calibri" pitchFamily="34" charset="-120"/>
              </a:rPr>
              <a:t>And the stakes are high</a:t>
            </a:r>
            <a:endParaRPr lang="en-US" sz="1800" dirty="0"/>
          </a:p>
        </p:txBody>
      </p:sp>
      <p:sp>
        <p:nvSpPr>
          <p:cNvPr id="15" name="Text 10"/>
          <p:cNvSpPr/>
          <p:nvPr/>
        </p:nvSpPr>
        <p:spPr>
          <a:xfrm>
            <a:off x="1783080" y="4965192"/>
            <a:ext cx="9509760" cy="640080"/>
          </a:xfrm>
          <a:prstGeom prst="rect">
            <a:avLst/>
          </a:prstGeom>
          <a:noFill/>
          <a:ln/>
        </p:spPr>
        <p:txBody>
          <a:bodyPr wrap="square" lIns="0" tIns="0" rIns="0" bIns="0" rtlCol="0" anchor="ctr"/>
          <a:lstStyle/>
          <a:p>
            <a:pPr indent="0" marL="0">
              <a:lnSpc>
                <a:spcPct val="110000"/>
              </a:lnSpc>
              <a:buNone/>
            </a:pPr>
            <a:r>
              <a:rPr lang="en-US" sz="1450" dirty="0">
                <a:solidFill>
                  <a:srgbClr val="CFC7BB"/>
                </a:solidFill>
                <a:latin typeface="Calibri" pitchFamily="34" charset="0"/>
                <a:ea typeface="Calibri" pitchFamily="34" charset="-122"/>
                <a:cs typeface="Calibri" pitchFamily="34" charset="-120"/>
              </a:rPr>
              <a:t>A missed deadline or an unknown right can mean an eviction, a utility shut-off, or a lost benefit check.</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BE0"/>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200" b="1" spc="200" kern="0" dirty="0">
                <a:solidFill>
                  <a:srgbClr val="6B1F2E"/>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822960" y="960120"/>
            <a:ext cx="11247120" cy="822960"/>
          </a:xfrm>
          <a:prstGeom prst="rect">
            <a:avLst/>
          </a:prstGeom>
          <a:noFill/>
          <a:ln/>
        </p:spPr>
        <p:txBody>
          <a:bodyPr wrap="square" lIns="0" tIns="0" rIns="0" bIns="0" rtlCol="0" anchor="ctr"/>
          <a:lstStyle/>
          <a:p>
            <a:pPr indent="0" marL="0">
              <a:buNone/>
            </a:pPr>
            <a:r>
              <a:rPr lang="en-US" sz="3800" b="1" dirty="0">
                <a:solidFill>
                  <a:srgbClr val="15233E"/>
                </a:solidFill>
                <a:latin typeface="Cambria" pitchFamily="34" charset="0"/>
                <a:ea typeface="Cambria" pitchFamily="34" charset="-122"/>
                <a:cs typeface="Cambria" pitchFamily="34" charset="-120"/>
              </a:rPr>
              <a:t>Ask a question, get a cited answer</a:t>
            </a:r>
            <a:endParaRPr lang="en-US" sz="3800" dirty="0"/>
          </a:p>
        </p:txBody>
      </p:sp>
      <p:sp>
        <p:nvSpPr>
          <p:cNvPr id="4" name="Shape 2"/>
          <p:cNvSpPr/>
          <p:nvPr/>
        </p:nvSpPr>
        <p:spPr>
          <a:xfrm>
            <a:off x="822960" y="2011680"/>
            <a:ext cx="2587752" cy="2926080"/>
          </a:xfrm>
          <a:prstGeom prst="roundRect">
            <a:avLst>
              <a:gd name="adj" fmla="val 4240"/>
            </a:avLst>
          </a:prstGeom>
          <a:solidFill>
            <a:srgbClr val="FBF8F2"/>
          </a:solidFill>
          <a:ln w="12700">
            <a:solidFill>
              <a:srgbClr val="E6DDCE"/>
            </a:solidFill>
            <a:prstDash val="solid"/>
          </a:ln>
        </p:spPr>
      </p:sp>
      <p:sp>
        <p:nvSpPr>
          <p:cNvPr id="5" name="Shape 3"/>
          <p:cNvSpPr/>
          <p:nvPr/>
        </p:nvSpPr>
        <p:spPr>
          <a:xfrm>
            <a:off x="1732788" y="2331720"/>
            <a:ext cx="768096" cy="768096"/>
          </a:xfrm>
          <a:prstGeom prst="ellipse">
            <a:avLst/>
          </a:prstGeom>
          <a:solidFill>
            <a:srgbClr val="6B1F2E"/>
          </a:solidFill>
          <a:ln/>
        </p:spPr>
      </p:sp>
      <p:pic>
        <p:nvPicPr>
          <p:cNvPr id="6" name="Image 0" descr="preencoded.png">    </p:cNvPr>
          <p:cNvPicPr>
            <a:picLocks noChangeAspect="1"/>
          </p:cNvPicPr>
          <p:nvPr/>
        </p:nvPicPr>
        <p:blipFill>
          <a:blip r:embed="rId1"/>
          <a:stretch>
            <a:fillRect/>
          </a:stretch>
        </p:blipFill>
        <p:spPr>
          <a:xfrm>
            <a:off x="1924812" y="2523744"/>
            <a:ext cx="384048" cy="384048"/>
          </a:xfrm>
          <a:prstGeom prst="rect">
            <a:avLst/>
          </a:prstGeom>
        </p:spPr>
      </p:pic>
      <p:sp>
        <p:nvSpPr>
          <p:cNvPr id="7" name="Text 4"/>
          <p:cNvSpPr/>
          <p:nvPr/>
        </p:nvSpPr>
        <p:spPr>
          <a:xfrm>
            <a:off x="987552" y="2176272"/>
            <a:ext cx="457200" cy="365760"/>
          </a:xfrm>
          <a:prstGeom prst="rect">
            <a:avLst/>
          </a:prstGeom>
          <a:noFill/>
          <a:ln/>
        </p:spPr>
        <p:txBody>
          <a:bodyPr wrap="square" lIns="0" tIns="0" rIns="0" bIns="0" rtlCol="0" anchor="ctr"/>
          <a:lstStyle/>
          <a:p>
            <a:pPr indent="0" marL="0">
              <a:buNone/>
            </a:pPr>
            <a:r>
              <a:rPr lang="en-US" sz="2000" b="1" dirty="0">
                <a:solidFill>
                  <a:srgbClr val="6B1F2E"/>
                </a:solidFill>
                <a:latin typeface="Cambria" pitchFamily="34" charset="0"/>
                <a:ea typeface="Cambria" pitchFamily="34" charset="-122"/>
                <a:cs typeface="Cambria" pitchFamily="34" charset="-120"/>
              </a:rPr>
              <a:t>1</a:t>
            </a:r>
            <a:endParaRPr lang="en-US" sz="2000" dirty="0"/>
          </a:p>
        </p:txBody>
      </p:sp>
      <p:sp>
        <p:nvSpPr>
          <p:cNvPr id="8" name="Text 5"/>
          <p:cNvSpPr/>
          <p:nvPr/>
        </p:nvSpPr>
        <p:spPr>
          <a:xfrm>
            <a:off x="1005840" y="3291840"/>
            <a:ext cx="2221992" cy="457200"/>
          </a:xfrm>
          <a:prstGeom prst="rect">
            <a:avLst/>
          </a:prstGeom>
          <a:noFill/>
          <a:ln/>
        </p:spPr>
        <p:txBody>
          <a:bodyPr wrap="square" lIns="0" tIns="0" rIns="0" bIns="0" rtlCol="0" anchor="ctr"/>
          <a:lstStyle/>
          <a:p>
            <a:pPr algn="ctr" indent="0" marL="0">
              <a:buNone/>
            </a:pPr>
            <a:r>
              <a:rPr lang="en-US" sz="1800" b="1" dirty="0">
                <a:solidFill>
                  <a:srgbClr val="15233E"/>
                </a:solidFill>
                <a:latin typeface="Cambria" pitchFamily="34" charset="0"/>
                <a:ea typeface="Cambria" pitchFamily="34" charset="-122"/>
                <a:cs typeface="Cambria" pitchFamily="34" charset="-120"/>
              </a:rPr>
              <a:t>Ask</a:t>
            </a:r>
            <a:endParaRPr lang="en-US" sz="1800" dirty="0"/>
          </a:p>
        </p:txBody>
      </p:sp>
      <p:sp>
        <p:nvSpPr>
          <p:cNvPr id="9" name="Text 6"/>
          <p:cNvSpPr/>
          <p:nvPr/>
        </p:nvSpPr>
        <p:spPr>
          <a:xfrm>
            <a:off x="1051560" y="3749040"/>
            <a:ext cx="2130552" cy="1005840"/>
          </a:xfrm>
          <a:prstGeom prst="rect">
            <a:avLst/>
          </a:prstGeom>
          <a:noFill/>
          <a:ln/>
        </p:spPr>
        <p:txBody>
          <a:bodyPr wrap="square" lIns="0" tIns="0" rIns="0" bIns="0" rtlCol="0" anchor="ctr"/>
          <a:lstStyle/>
          <a:p>
            <a:pPr algn="ctr" indent="0" marL="0">
              <a:lnSpc>
                <a:spcPct val="110000"/>
              </a:lnSpc>
              <a:buNone/>
            </a:pPr>
            <a:r>
              <a:rPr lang="en-US" sz="1300" dirty="0">
                <a:solidFill>
                  <a:srgbClr val="5F5950"/>
                </a:solidFill>
                <a:latin typeface="Calibri" pitchFamily="34" charset="0"/>
                <a:ea typeface="Calibri" pitchFamily="34" charset="-122"/>
                <a:cs typeface="Calibri" pitchFamily="34" charset="-120"/>
              </a:rPr>
              <a:t>Type or speak your question in any of 5 languages.</a:t>
            </a:r>
            <a:endParaRPr lang="en-US" sz="1300" dirty="0"/>
          </a:p>
        </p:txBody>
      </p:sp>
      <p:sp>
        <p:nvSpPr>
          <p:cNvPr id="10" name="Shape 7"/>
          <p:cNvSpPr/>
          <p:nvPr/>
        </p:nvSpPr>
        <p:spPr>
          <a:xfrm>
            <a:off x="3703320" y="2011680"/>
            <a:ext cx="2587752" cy="2926080"/>
          </a:xfrm>
          <a:prstGeom prst="roundRect">
            <a:avLst>
              <a:gd name="adj" fmla="val 4240"/>
            </a:avLst>
          </a:prstGeom>
          <a:solidFill>
            <a:srgbClr val="FBF8F2"/>
          </a:solidFill>
          <a:ln w="12700">
            <a:solidFill>
              <a:srgbClr val="E6DDCE"/>
            </a:solidFill>
            <a:prstDash val="solid"/>
          </a:ln>
        </p:spPr>
      </p:sp>
      <p:sp>
        <p:nvSpPr>
          <p:cNvPr id="11" name="Shape 8"/>
          <p:cNvSpPr/>
          <p:nvPr/>
        </p:nvSpPr>
        <p:spPr>
          <a:xfrm>
            <a:off x="4613148" y="2331720"/>
            <a:ext cx="768096" cy="768096"/>
          </a:xfrm>
          <a:prstGeom prst="ellipse">
            <a:avLst/>
          </a:prstGeom>
          <a:solidFill>
            <a:srgbClr val="3D6B3A"/>
          </a:solidFill>
          <a:ln/>
        </p:spPr>
      </p:sp>
      <p:pic>
        <p:nvPicPr>
          <p:cNvPr id="12" name="Image 1" descr="preencoded.png">    </p:cNvPr>
          <p:cNvPicPr>
            <a:picLocks noChangeAspect="1"/>
          </p:cNvPicPr>
          <p:nvPr/>
        </p:nvPicPr>
        <p:blipFill>
          <a:blip r:embed="rId2"/>
          <a:stretch>
            <a:fillRect/>
          </a:stretch>
        </p:blipFill>
        <p:spPr>
          <a:xfrm>
            <a:off x="4805172" y="2523744"/>
            <a:ext cx="384048" cy="384048"/>
          </a:xfrm>
          <a:prstGeom prst="rect">
            <a:avLst/>
          </a:prstGeom>
        </p:spPr>
      </p:pic>
      <p:sp>
        <p:nvSpPr>
          <p:cNvPr id="13" name="Text 9"/>
          <p:cNvSpPr/>
          <p:nvPr/>
        </p:nvSpPr>
        <p:spPr>
          <a:xfrm>
            <a:off x="3867912" y="2176272"/>
            <a:ext cx="457200" cy="365760"/>
          </a:xfrm>
          <a:prstGeom prst="rect">
            <a:avLst/>
          </a:prstGeom>
          <a:noFill/>
          <a:ln/>
        </p:spPr>
        <p:txBody>
          <a:bodyPr wrap="square" lIns="0" tIns="0" rIns="0" bIns="0" rtlCol="0" anchor="ctr"/>
          <a:lstStyle/>
          <a:p>
            <a:pPr indent="0" marL="0">
              <a:buNone/>
            </a:pPr>
            <a:r>
              <a:rPr lang="en-US" sz="2000" b="1" dirty="0">
                <a:solidFill>
                  <a:srgbClr val="3D6B3A"/>
                </a:solidFill>
                <a:latin typeface="Cambria" pitchFamily="34" charset="0"/>
                <a:ea typeface="Cambria" pitchFamily="34" charset="-122"/>
                <a:cs typeface="Cambria" pitchFamily="34" charset="-120"/>
              </a:rPr>
              <a:t>2</a:t>
            </a:r>
            <a:endParaRPr lang="en-US" sz="2000" dirty="0"/>
          </a:p>
        </p:txBody>
      </p:sp>
      <p:sp>
        <p:nvSpPr>
          <p:cNvPr id="14" name="Text 10"/>
          <p:cNvSpPr/>
          <p:nvPr/>
        </p:nvSpPr>
        <p:spPr>
          <a:xfrm>
            <a:off x="3886200" y="3291840"/>
            <a:ext cx="2221992" cy="457200"/>
          </a:xfrm>
          <a:prstGeom prst="rect">
            <a:avLst/>
          </a:prstGeom>
          <a:noFill/>
          <a:ln/>
        </p:spPr>
        <p:txBody>
          <a:bodyPr wrap="square" lIns="0" tIns="0" rIns="0" bIns="0" rtlCol="0" anchor="ctr"/>
          <a:lstStyle/>
          <a:p>
            <a:pPr algn="ctr" indent="0" marL="0">
              <a:buNone/>
            </a:pPr>
            <a:r>
              <a:rPr lang="en-US" sz="1800" b="1" dirty="0">
                <a:solidFill>
                  <a:srgbClr val="15233E"/>
                </a:solidFill>
                <a:latin typeface="Cambria" pitchFamily="34" charset="0"/>
                <a:ea typeface="Cambria" pitchFamily="34" charset="-122"/>
                <a:cs typeface="Cambria" pitchFamily="34" charset="-120"/>
              </a:rPr>
              <a:t>Find the law</a:t>
            </a:r>
            <a:endParaRPr lang="en-US" sz="1800" dirty="0"/>
          </a:p>
        </p:txBody>
      </p:sp>
      <p:sp>
        <p:nvSpPr>
          <p:cNvPr id="15" name="Text 11"/>
          <p:cNvSpPr/>
          <p:nvPr/>
        </p:nvSpPr>
        <p:spPr>
          <a:xfrm>
            <a:off x="3931920" y="3749040"/>
            <a:ext cx="2130552" cy="1005840"/>
          </a:xfrm>
          <a:prstGeom prst="rect">
            <a:avLst/>
          </a:prstGeom>
          <a:noFill/>
          <a:ln/>
        </p:spPr>
        <p:txBody>
          <a:bodyPr wrap="square" lIns="0" tIns="0" rIns="0" bIns="0" rtlCol="0" anchor="ctr"/>
          <a:lstStyle/>
          <a:p>
            <a:pPr algn="ctr" indent="0" marL="0">
              <a:lnSpc>
                <a:spcPct val="110000"/>
              </a:lnSpc>
              <a:buNone/>
            </a:pPr>
            <a:r>
              <a:rPr lang="en-US" sz="1300" dirty="0">
                <a:solidFill>
                  <a:srgbClr val="5F5950"/>
                </a:solidFill>
                <a:latin typeface="Calibri" pitchFamily="34" charset="0"/>
                <a:ea typeface="Calibri" pitchFamily="34" charset="-122"/>
                <a:cs typeface="Calibri" pitchFamily="34" charset="-120"/>
              </a:rPr>
              <a:t>AI searches a curated library of Illinois legal sources.</a:t>
            </a:r>
            <a:endParaRPr lang="en-US" sz="1300" dirty="0"/>
          </a:p>
        </p:txBody>
      </p:sp>
      <p:sp>
        <p:nvSpPr>
          <p:cNvPr id="16" name="Shape 12"/>
          <p:cNvSpPr/>
          <p:nvPr/>
        </p:nvSpPr>
        <p:spPr>
          <a:xfrm>
            <a:off x="6583680" y="2011680"/>
            <a:ext cx="2587752" cy="2926080"/>
          </a:xfrm>
          <a:prstGeom prst="roundRect">
            <a:avLst>
              <a:gd name="adj" fmla="val 4240"/>
            </a:avLst>
          </a:prstGeom>
          <a:solidFill>
            <a:srgbClr val="FBF8F2"/>
          </a:solidFill>
          <a:ln w="12700">
            <a:solidFill>
              <a:srgbClr val="E6DDCE"/>
            </a:solidFill>
            <a:prstDash val="solid"/>
          </a:ln>
        </p:spPr>
      </p:sp>
      <p:sp>
        <p:nvSpPr>
          <p:cNvPr id="17" name="Shape 13"/>
          <p:cNvSpPr/>
          <p:nvPr/>
        </p:nvSpPr>
        <p:spPr>
          <a:xfrm>
            <a:off x="7493508" y="2331720"/>
            <a:ext cx="768096" cy="768096"/>
          </a:xfrm>
          <a:prstGeom prst="ellipse">
            <a:avLst/>
          </a:prstGeom>
          <a:solidFill>
            <a:srgbClr val="6B1F2E"/>
          </a:solidFill>
          <a:ln/>
        </p:spPr>
      </p:sp>
      <p:pic>
        <p:nvPicPr>
          <p:cNvPr id="18" name="Image 2" descr="preencoded.png">    </p:cNvPr>
          <p:cNvPicPr>
            <a:picLocks noChangeAspect="1"/>
          </p:cNvPicPr>
          <p:nvPr/>
        </p:nvPicPr>
        <p:blipFill>
          <a:blip r:embed="rId3"/>
          <a:stretch>
            <a:fillRect/>
          </a:stretch>
        </p:blipFill>
        <p:spPr>
          <a:xfrm>
            <a:off x="7685532" y="2523744"/>
            <a:ext cx="384048" cy="384048"/>
          </a:xfrm>
          <a:prstGeom prst="rect">
            <a:avLst/>
          </a:prstGeom>
        </p:spPr>
      </p:pic>
      <p:sp>
        <p:nvSpPr>
          <p:cNvPr id="19" name="Text 14"/>
          <p:cNvSpPr/>
          <p:nvPr/>
        </p:nvSpPr>
        <p:spPr>
          <a:xfrm>
            <a:off x="6748272" y="2176272"/>
            <a:ext cx="457200" cy="365760"/>
          </a:xfrm>
          <a:prstGeom prst="rect">
            <a:avLst/>
          </a:prstGeom>
          <a:noFill/>
          <a:ln/>
        </p:spPr>
        <p:txBody>
          <a:bodyPr wrap="square" lIns="0" tIns="0" rIns="0" bIns="0" rtlCol="0" anchor="ctr"/>
          <a:lstStyle/>
          <a:p>
            <a:pPr indent="0" marL="0">
              <a:buNone/>
            </a:pPr>
            <a:r>
              <a:rPr lang="en-US" sz="2000" b="1" dirty="0">
                <a:solidFill>
                  <a:srgbClr val="6B1F2E"/>
                </a:solidFill>
                <a:latin typeface="Cambria" pitchFamily="34" charset="0"/>
                <a:ea typeface="Cambria" pitchFamily="34" charset="-122"/>
                <a:cs typeface="Cambria" pitchFamily="34" charset="-120"/>
              </a:rPr>
              <a:t>3</a:t>
            </a:r>
            <a:endParaRPr lang="en-US" sz="2000" dirty="0"/>
          </a:p>
        </p:txBody>
      </p:sp>
      <p:sp>
        <p:nvSpPr>
          <p:cNvPr id="20" name="Text 15"/>
          <p:cNvSpPr/>
          <p:nvPr/>
        </p:nvSpPr>
        <p:spPr>
          <a:xfrm>
            <a:off x="6766560" y="3291840"/>
            <a:ext cx="2221992" cy="457200"/>
          </a:xfrm>
          <a:prstGeom prst="rect">
            <a:avLst/>
          </a:prstGeom>
          <a:noFill/>
          <a:ln/>
        </p:spPr>
        <p:txBody>
          <a:bodyPr wrap="square" lIns="0" tIns="0" rIns="0" bIns="0" rtlCol="0" anchor="ctr"/>
          <a:lstStyle/>
          <a:p>
            <a:pPr algn="ctr" indent="0" marL="0">
              <a:buNone/>
            </a:pPr>
            <a:r>
              <a:rPr lang="en-US" sz="1800" b="1" dirty="0">
                <a:solidFill>
                  <a:srgbClr val="15233E"/>
                </a:solidFill>
                <a:latin typeface="Cambria" pitchFamily="34" charset="0"/>
                <a:ea typeface="Cambria" pitchFamily="34" charset="-122"/>
                <a:cs typeface="Cambria" pitchFamily="34" charset="-120"/>
              </a:rPr>
              <a:t>Get a cited answer</a:t>
            </a:r>
            <a:endParaRPr lang="en-US" sz="1800" dirty="0"/>
          </a:p>
        </p:txBody>
      </p:sp>
      <p:sp>
        <p:nvSpPr>
          <p:cNvPr id="21" name="Text 16"/>
          <p:cNvSpPr/>
          <p:nvPr/>
        </p:nvSpPr>
        <p:spPr>
          <a:xfrm>
            <a:off x="6812280" y="3749040"/>
            <a:ext cx="2130552" cy="1005840"/>
          </a:xfrm>
          <a:prstGeom prst="rect">
            <a:avLst/>
          </a:prstGeom>
          <a:noFill/>
          <a:ln/>
        </p:spPr>
        <p:txBody>
          <a:bodyPr wrap="square" lIns="0" tIns="0" rIns="0" bIns="0" rtlCol="0" anchor="ctr"/>
          <a:lstStyle/>
          <a:p>
            <a:pPr algn="ctr" indent="0" marL="0">
              <a:lnSpc>
                <a:spcPct val="110000"/>
              </a:lnSpc>
              <a:buNone/>
            </a:pPr>
            <a:r>
              <a:rPr lang="en-US" sz="1300" dirty="0">
                <a:solidFill>
                  <a:srgbClr val="5F5950"/>
                </a:solidFill>
                <a:latin typeface="Calibri" pitchFamily="34" charset="0"/>
                <a:ea typeface="Calibri" pitchFamily="34" charset="-122"/>
                <a:cs typeface="Calibri" pitchFamily="34" charset="-120"/>
              </a:rPr>
              <a:t>Plain language, with a confidence rating and the law behind it.</a:t>
            </a:r>
            <a:endParaRPr lang="en-US" sz="1300" dirty="0"/>
          </a:p>
        </p:txBody>
      </p:sp>
      <p:sp>
        <p:nvSpPr>
          <p:cNvPr id="22" name="Shape 17"/>
          <p:cNvSpPr/>
          <p:nvPr/>
        </p:nvSpPr>
        <p:spPr>
          <a:xfrm>
            <a:off x="9464040" y="2011680"/>
            <a:ext cx="2587752" cy="2926080"/>
          </a:xfrm>
          <a:prstGeom prst="roundRect">
            <a:avLst>
              <a:gd name="adj" fmla="val 4240"/>
            </a:avLst>
          </a:prstGeom>
          <a:solidFill>
            <a:srgbClr val="FBF8F2"/>
          </a:solidFill>
          <a:ln w="12700">
            <a:solidFill>
              <a:srgbClr val="E6DDCE"/>
            </a:solidFill>
            <a:prstDash val="solid"/>
          </a:ln>
        </p:spPr>
      </p:sp>
      <p:sp>
        <p:nvSpPr>
          <p:cNvPr id="23" name="Shape 18"/>
          <p:cNvSpPr/>
          <p:nvPr/>
        </p:nvSpPr>
        <p:spPr>
          <a:xfrm>
            <a:off x="10373868" y="2331720"/>
            <a:ext cx="768096" cy="768096"/>
          </a:xfrm>
          <a:prstGeom prst="ellipse">
            <a:avLst/>
          </a:prstGeom>
          <a:solidFill>
            <a:srgbClr val="3D6B3A"/>
          </a:solidFill>
          <a:ln/>
        </p:spPr>
      </p:sp>
      <p:pic>
        <p:nvPicPr>
          <p:cNvPr id="24" name="Image 3" descr="preencoded.png">    </p:cNvPr>
          <p:cNvPicPr>
            <a:picLocks noChangeAspect="1"/>
          </p:cNvPicPr>
          <p:nvPr/>
        </p:nvPicPr>
        <p:blipFill>
          <a:blip r:embed="rId4"/>
          <a:stretch>
            <a:fillRect/>
          </a:stretch>
        </p:blipFill>
        <p:spPr>
          <a:xfrm>
            <a:off x="10565892" y="2523744"/>
            <a:ext cx="384048" cy="384048"/>
          </a:xfrm>
          <a:prstGeom prst="rect">
            <a:avLst/>
          </a:prstGeom>
        </p:spPr>
      </p:pic>
      <p:sp>
        <p:nvSpPr>
          <p:cNvPr id="25" name="Text 19"/>
          <p:cNvSpPr/>
          <p:nvPr/>
        </p:nvSpPr>
        <p:spPr>
          <a:xfrm>
            <a:off x="9628632" y="2176272"/>
            <a:ext cx="457200" cy="365760"/>
          </a:xfrm>
          <a:prstGeom prst="rect">
            <a:avLst/>
          </a:prstGeom>
          <a:noFill/>
          <a:ln/>
        </p:spPr>
        <p:txBody>
          <a:bodyPr wrap="square" lIns="0" tIns="0" rIns="0" bIns="0" rtlCol="0" anchor="ctr"/>
          <a:lstStyle/>
          <a:p>
            <a:pPr indent="0" marL="0">
              <a:buNone/>
            </a:pPr>
            <a:r>
              <a:rPr lang="en-US" sz="2000" b="1" dirty="0">
                <a:solidFill>
                  <a:srgbClr val="3D6B3A"/>
                </a:solidFill>
                <a:latin typeface="Cambria" pitchFamily="34" charset="0"/>
                <a:ea typeface="Cambria" pitchFamily="34" charset="-122"/>
                <a:cs typeface="Cambria" pitchFamily="34" charset="-120"/>
              </a:rPr>
              <a:t>4</a:t>
            </a:r>
            <a:endParaRPr lang="en-US" sz="2000" dirty="0"/>
          </a:p>
        </p:txBody>
      </p:sp>
      <p:sp>
        <p:nvSpPr>
          <p:cNvPr id="26" name="Text 20"/>
          <p:cNvSpPr/>
          <p:nvPr/>
        </p:nvSpPr>
        <p:spPr>
          <a:xfrm>
            <a:off x="9646920" y="3291840"/>
            <a:ext cx="2221992" cy="457200"/>
          </a:xfrm>
          <a:prstGeom prst="rect">
            <a:avLst/>
          </a:prstGeom>
          <a:noFill/>
          <a:ln/>
        </p:spPr>
        <p:txBody>
          <a:bodyPr wrap="square" lIns="0" tIns="0" rIns="0" bIns="0" rtlCol="0" anchor="ctr"/>
          <a:lstStyle/>
          <a:p>
            <a:pPr algn="ctr" indent="0" marL="0">
              <a:buNone/>
            </a:pPr>
            <a:r>
              <a:rPr lang="en-US" sz="1800" b="1" dirty="0">
                <a:solidFill>
                  <a:srgbClr val="15233E"/>
                </a:solidFill>
                <a:latin typeface="Cambria" pitchFamily="34" charset="0"/>
                <a:ea typeface="Cambria" pitchFamily="34" charset="-122"/>
                <a:cs typeface="Cambria" pitchFamily="34" charset="-120"/>
              </a:rPr>
              <a:t>Reach real help</a:t>
            </a:r>
            <a:endParaRPr lang="en-US" sz="1800" dirty="0"/>
          </a:p>
        </p:txBody>
      </p:sp>
      <p:sp>
        <p:nvSpPr>
          <p:cNvPr id="27" name="Text 21"/>
          <p:cNvSpPr/>
          <p:nvPr/>
        </p:nvSpPr>
        <p:spPr>
          <a:xfrm>
            <a:off x="9692640" y="3749040"/>
            <a:ext cx="2130552" cy="1005840"/>
          </a:xfrm>
          <a:prstGeom prst="rect">
            <a:avLst/>
          </a:prstGeom>
          <a:noFill/>
          <a:ln/>
        </p:spPr>
        <p:txBody>
          <a:bodyPr wrap="square" lIns="0" tIns="0" rIns="0" bIns="0" rtlCol="0" anchor="ctr"/>
          <a:lstStyle/>
          <a:p>
            <a:pPr algn="ctr" indent="0" marL="0">
              <a:lnSpc>
                <a:spcPct val="110000"/>
              </a:lnSpc>
              <a:buNone/>
            </a:pPr>
            <a:r>
              <a:rPr lang="en-US" sz="1300" dirty="0">
                <a:solidFill>
                  <a:srgbClr val="5F5950"/>
                </a:solidFill>
                <a:latin typeface="Calibri" pitchFamily="34" charset="0"/>
                <a:ea typeface="Calibri" pitchFamily="34" charset="-122"/>
                <a:cs typeface="Calibri" pitchFamily="34" charset="-120"/>
              </a:rPr>
              <a:t>A verified, free organization near you, by ZIP or area.</a:t>
            </a:r>
            <a:endParaRPr lang="en-US" sz="1300" dirty="0"/>
          </a:p>
        </p:txBody>
      </p:sp>
      <p:sp>
        <p:nvSpPr>
          <p:cNvPr id="28" name="Shape 22"/>
          <p:cNvSpPr/>
          <p:nvPr/>
        </p:nvSpPr>
        <p:spPr>
          <a:xfrm>
            <a:off x="4114800" y="5349240"/>
            <a:ext cx="3959352" cy="640080"/>
          </a:xfrm>
          <a:prstGeom prst="roundRect">
            <a:avLst>
              <a:gd name="adj" fmla="val 14286"/>
            </a:avLst>
          </a:prstGeom>
          <a:solidFill>
            <a:srgbClr val="15233E"/>
          </a:solidFill>
          <a:ln/>
        </p:spPr>
      </p:sp>
      <p:sp>
        <p:nvSpPr>
          <p:cNvPr id="29" name="Text 23"/>
          <p:cNvSpPr/>
          <p:nvPr/>
        </p:nvSpPr>
        <p:spPr>
          <a:xfrm>
            <a:off x="4114800" y="5349240"/>
            <a:ext cx="3959352" cy="640080"/>
          </a:xfrm>
          <a:prstGeom prst="rect">
            <a:avLst/>
          </a:prstGeom>
          <a:noFill/>
          <a:ln/>
        </p:spPr>
        <p:txBody>
          <a:bodyPr wrap="square" lIns="0" tIns="0" rIns="0" bIns="0" rtlCol="0" anchor="ctr"/>
          <a:lstStyle/>
          <a:p>
            <a:pPr algn="ctr" indent="0" marL="0">
              <a:buNone/>
            </a:pPr>
            <a:r>
              <a:rPr lang="en-US" sz="1700" b="1" dirty="0">
                <a:solidFill>
                  <a:srgbClr val="F3EBE0"/>
                </a:solidFill>
                <a:latin typeface="Calibri" pitchFamily="34" charset="0"/>
                <a:ea typeface="Calibri" pitchFamily="34" charset="-122"/>
                <a:cs typeface="Calibri" pitchFamily="34" charset="-120"/>
              </a:rPr>
              <a:t>Live demo</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33E"/>
        </a:solidFill>
      </p:bgPr>
    </p:bg>
    <p:spTree>
      <p:nvGrpSpPr>
        <p:cNvPr id="1" name=""/>
        <p:cNvGrpSpPr/>
        <p:nvPr/>
      </p:nvGrpSpPr>
      <p:grpSpPr>
        <a:xfrm>
          <a:off x="0" y="0"/>
          <a:ext cx="0" cy="0"/>
          <a:chOff x="0" y="0"/>
          <a:chExt cx="0" cy="0"/>
        </a:xfrm>
      </p:grpSpPr>
      <p:sp>
        <p:nvSpPr>
          <p:cNvPr id="2" name="Text 0"/>
          <p:cNvSpPr/>
          <p:nvPr/>
        </p:nvSpPr>
        <p:spPr>
          <a:xfrm>
            <a:off x="822960" y="566928"/>
            <a:ext cx="7315200" cy="274320"/>
          </a:xfrm>
          <a:prstGeom prst="rect">
            <a:avLst/>
          </a:prstGeom>
          <a:noFill/>
          <a:ln/>
        </p:spPr>
        <p:txBody>
          <a:bodyPr wrap="square" lIns="0" tIns="0" rIns="0" bIns="0" rtlCol="0" anchor="ctr"/>
          <a:lstStyle/>
          <a:p>
            <a:pPr indent="0" marL="0">
              <a:buNone/>
            </a:pPr>
            <a:r>
              <a:rPr lang="en-US" sz="1200" b="1" spc="200" kern="0" dirty="0">
                <a:solidFill>
                  <a:srgbClr val="8FB98C"/>
                </a:solidFill>
                <a:latin typeface="Calibri" pitchFamily="34" charset="0"/>
                <a:ea typeface="Calibri" pitchFamily="34" charset="-122"/>
                <a:cs typeface="Calibri" pitchFamily="34" charset="-120"/>
              </a:rPr>
              <a:t>UNDER THE HOOD</a:t>
            </a:r>
            <a:endParaRPr lang="en-US" sz="1200" dirty="0"/>
          </a:p>
        </p:txBody>
      </p:sp>
      <p:sp>
        <p:nvSpPr>
          <p:cNvPr id="3" name="Text 1"/>
          <p:cNvSpPr/>
          <p:nvPr/>
        </p:nvSpPr>
        <p:spPr>
          <a:xfrm>
            <a:off x="822960" y="886968"/>
            <a:ext cx="11247120" cy="822960"/>
          </a:xfrm>
          <a:prstGeom prst="rect">
            <a:avLst/>
          </a:prstGeom>
          <a:noFill/>
          <a:ln/>
        </p:spPr>
        <p:txBody>
          <a:bodyPr wrap="square" lIns="0" tIns="0" rIns="0" bIns="0" rtlCol="0" anchor="ctr"/>
          <a:lstStyle/>
          <a:p>
            <a:pPr indent="0" marL="0">
              <a:buNone/>
            </a:pPr>
            <a:r>
              <a:rPr lang="en-US" sz="3800" b="1" dirty="0">
                <a:solidFill>
                  <a:srgbClr val="F3EBE0"/>
                </a:solidFill>
                <a:latin typeface="Cambria" pitchFamily="34" charset="0"/>
                <a:ea typeface="Cambria" pitchFamily="34" charset="-122"/>
                <a:cs typeface="Cambria" pitchFamily="34" charset="-120"/>
              </a:rPr>
              <a:t>How a question becomes a cited answer</a:t>
            </a:r>
            <a:endParaRPr lang="en-US" sz="3800" dirty="0"/>
          </a:p>
        </p:txBody>
      </p:sp>
      <p:sp>
        <p:nvSpPr>
          <p:cNvPr id="4" name="Shape 2"/>
          <p:cNvSpPr/>
          <p:nvPr/>
        </p:nvSpPr>
        <p:spPr>
          <a:xfrm>
            <a:off x="1600200" y="2889504"/>
            <a:ext cx="8778240" cy="0"/>
          </a:xfrm>
          <a:prstGeom prst="line">
            <a:avLst/>
          </a:prstGeom>
          <a:noFill/>
          <a:ln w="25400">
            <a:solidFill>
              <a:srgbClr val="8FB98C"/>
            </a:solidFill>
            <a:prstDash val="solid"/>
          </a:ln>
        </p:spPr>
      </p:sp>
      <p:sp>
        <p:nvSpPr>
          <p:cNvPr id="5" name="Shape 3"/>
          <p:cNvSpPr/>
          <p:nvPr/>
        </p:nvSpPr>
        <p:spPr>
          <a:xfrm>
            <a:off x="1179576" y="2468880"/>
            <a:ext cx="841248" cy="841248"/>
          </a:xfrm>
          <a:prstGeom prst="ellipse">
            <a:avLst/>
          </a:prstGeom>
          <a:solidFill>
            <a:srgbClr val="6B1F2E"/>
          </a:solidFill>
          <a:ln/>
        </p:spPr>
      </p:sp>
      <p:pic>
        <p:nvPicPr>
          <p:cNvPr id="6" name="Image 0" descr="preencoded.png">    </p:cNvPr>
          <p:cNvPicPr>
            <a:picLocks noChangeAspect="1"/>
          </p:cNvPicPr>
          <p:nvPr/>
        </p:nvPicPr>
        <p:blipFill>
          <a:blip r:embed="rId1"/>
          <a:stretch>
            <a:fillRect/>
          </a:stretch>
        </p:blipFill>
        <p:spPr>
          <a:xfrm>
            <a:off x="1389888" y="2679192"/>
            <a:ext cx="420624" cy="420624"/>
          </a:xfrm>
          <a:prstGeom prst="rect">
            <a:avLst/>
          </a:prstGeom>
        </p:spPr>
      </p:pic>
      <p:sp>
        <p:nvSpPr>
          <p:cNvPr id="7" name="Text 4"/>
          <p:cNvSpPr/>
          <p:nvPr/>
        </p:nvSpPr>
        <p:spPr>
          <a:xfrm>
            <a:off x="1179576" y="2139696"/>
            <a:ext cx="841248" cy="274320"/>
          </a:xfrm>
          <a:prstGeom prst="rect">
            <a:avLst/>
          </a:prstGeom>
          <a:noFill/>
          <a:ln/>
        </p:spPr>
        <p:txBody>
          <a:bodyPr wrap="square" lIns="0" tIns="0" rIns="0" bIns="0" rtlCol="0" anchor="ctr"/>
          <a:lstStyle/>
          <a:p>
            <a:pPr algn="ctr" indent="0" marL="0">
              <a:buNone/>
            </a:pPr>
            <a:r>
              <a:rPr lang="en-US" sz="1400" b="1" dirty="0">
                <a:solidFill>
                  <a:srgbClr val="8FB98C"/>
                </a:solidFill>
                <a:latin typeface="Cambria" pitchFamily="34" charset="0"/>
                <a:ea typeface="Cambria" pitchFamily="34" charset="-122"/>
                <a:cs typeface="Cambria" pitchFamily="34" charset="-120"/>
              </a:rPr>
              <a:t>1</a:t>
            </a:r>
            <a:endParaRPr lang="en-US" sz="1400" dirty="0"/>
          </a:p>
        </p:txBody>
      </p:sp>
      <p:sp>
        <p:nvSpPr>
          <p:cNvPr id="8" name="Text 5"/>
          <p:cNvSpPr/>
          <p:nvPr/>
        </p:nvSpPr>
        <p:spPr>
          <a:xfrm>
            <a:off x="548640" y="3438144"/>
            <a:ext cx="2103120" cy="548640"/>
          </a:xfrm>
          <a:prstGeom prst="rect">
            <a:avLst/>
          </a:prstGeom>
          <a:noFill/>
          <a:ln/>
        </p:spPr>
        <p:txBody>
          <a:bodyPr wrap="square" lIns="0" tIns="0" rIns="0" bIns="0" rtlCol="0" anchor="ctr"/>
          <a:lstStyle/>
          <a:p>
            <a:pPr algn="ctr" indent="0" marL="0">
              <a:buNone/>
            </a:pPr>
            <a:r>
              <a:rPr lang="en-US" sz="1500" b="1" dirty="0">
                <a:solidFill>
                  <a:srgbClr val="F3EBE0"/>
                </a:solidFill>
                <a:latin typeface="Cambria" pitchFamily="34" charset="0"/>
                <a:ea typeface="Cambria" pitchFamily="34" charset="-122"/>
                <a:cs typeface="Cambria" pitchFamily="34" charset="-120"/>
              </a:rPr>
              <a:t>You ask</a:t>
            </a:r>
            <a:endParaRPr lang="en-US" sz="1500" dirty="0"/>
          </a:p>
        </p:txBody>
      </p:sp>
      <p:sp>
        <p:nvSpPr>
          <p:cNvPr id="9" name="Text 6"/>
          <p:cNvSpPr/>
          <p:nvPr/>
        </p:nvSpPr>
        <p:spPr>
          <a:xfrm>
            <a:off x="548640" y="3986784"/>
            <a:ext cx="2103120" cy="914400"/>
          </a:xfrm>
          <a:prstGeom prst="rect">
            <a:avLst/>
          </a:prstGeom>
          <a:noFill/>
          <a:ln/>
        </p:spPr>
        <p:txBody>
          <a:bodyPr wrap="square" lIns="0" tIns="0" rIns="0" bIns="0" rtlCol="0" anchor="ctr"/>
          <a:lstStyle/>
          <a:p>
            <a:pPr algn="ctr" indent="0" marL="0">
              <a:lnSpc>
                <a:spcPct val="108000"/>
              </a:lnSpc>
              <a:buNone/>
            </a:pPr>
            <a:r>
              <a:rPr lang="en-US" sz="1150" dirty="0">
                <a:solidFill>
                  <a:srgbClr val="CFC7BB"/>
                </a:solidFill>
                <a:latin typeface="Calibri" pitchFamily="34" charset="0"/>
                <a:ea typeface="Calibri" pitchFamily="34" charset="-122"/>
                <a:cs typeface="Calibri" pitchFamily="34" charset="-120"/>
              </a:rPr>
              <a:t>In any of 5 languages, typed or spoken.</a:t>
            </a:r>
            <a:endParaRPr lang="en-US" sz="1150" dirty="0"/>
          </a:p>
        </p:txBody>
      </p:sp>
      <p:sp>
        <p:nvSpPr>
          <p:cNvPr id="10" name="Shape 7"/>
          <p:cNvSpPr/>
          <p:nvPr/>
        </p:nvSpPr>
        <p:spPr>
          <a:xfrm>
            <a:off x="3374136" y="2468880"/>
            <a:ext cx="841248" cy="841248"/>
          </a:xfrm>
          <a:prstGeom prst="ellipse">
            <a:avLst/>
          </a:prstGeom>
          <a:solidFill>
            <a:srgbClr val="3D6B3A"/>
          </a:solidFill>
          <a:ln/>
        </p:spPr>
      </p:sp>
      <p:pic>
        <p:nvPicPr>
          <p:cNvPr id="11" name="Image 1" descr="preencoded.png">    </p:cNvPr>
          <p:cNvPicPr>
            <a:picLocks noChangeAspect="1"/>
          </p:cNvPicPr>
          <p:nvPr/>
        </p:nvPicPr>
        <p:blipFill>
          <a:blip r:embed="rId2"/>
          <a:stretch>
            <a:fillRect/>
          </a:stretch>
        </p:blipFill>
        <p:spPr>
          <a:xfrm>
            <a:off x="3584448" y="2679192"/>
            <a:ext cx="420624" cy="420624"/>
          </a:xfrm>
          <a:prstGeom prst="rect">
            <a:avLst/>
          </a:prstGeom>
        </p:spPr>
      </p:pic>
      <p:sp>
        <p:nvSpPr>
          <p:cNvPr id="12" name="Text 8"/>
          <p:cNvSpPr/>
          <p:nvPr/>
        </p:nvSpPr>
        <p:spPr>
          <a:xfrm>
            <a:off x="3374136" y="2139696"/>
            <a:ext cx="841248" cy="274320"/>
          </a:xfrm>
          <a:prstGeom prst="rect">
            <a:avLst/>
          </a:prstGeom>
          <a:noFill/>
          <a:ln/>
        </p:spPr>
        <p:txBody>
          <a:bodyPr wrap="square" lIns="0" tIns="0" rIns="0" bIns="0" rtlCol="0" anchor="ctr"/>
          <a:lstStyle/>
          <a:p>
            <a:pPr algn="ctr" indent="0" marL="0">
              <a:buNone/>
            </a:pPr>
            <a:r>
              <a:rPr lang="en-US" sz="1400" b="1" dirty="0">
                <a:solidFill>
                  <a:srgbClr val="8FB98C"/>
                </a:solidFill>
                <a:latin typeface="Cambria" pitchFamily="34" charset="0"/>
                <a:ea typeface="Cambria" pitchFamily="34" charset="-122"/>
                <a:cs typeface="Cambria" pitchFamily="34" charset="-120"/>
              </a:rPr>
              <a:t>2</a:t>
            </a:r>
            <a:endParaRPr lang="en-US" sz="1400" dirty="0"/>
          </a:p>
        </p:txBody>
      </p:sp>
      <p:sp>
        <p:nvSpPr>
          <p:cNvPr id="13" name="Text 9"/>
          <p:cNvSpPr/>
          <p:nvPr/>
        </p:nvSpPr>
        <p:spPr>
          <a:xfrm>
            <a:off x="2743200" y="3438144"/>
            <a:ext cx="2103120" cy="548640"/>
          </a:xfrm>
          <a:prstGeom prst="rect">
            <a:avLst/>
          </a:prstGeom>
          <a:noFill/>
          <a:ln/>
        </p:spPr>
        <p:txBody>
          <a:bodyPr wrap="square" lIns="0" tIns="0" rIns="0" bIns="0" rtlCol="0" anchor="ctr"/>
          <a:lstStyle/>
          <a:p>
            <a:pPr algn="ctr" indent="0" marL="0">
              <a:buNone/>
            </a:pPr>
            <a:r>
              <a:rPr lang="en-US" sz="1500" b="1" dirty="0">
                <a:solidFill>
                  <a:srgbClr val="F3EBE0"/>
                </a:solidFill>
                <a:latin typeface="Cambria" pitchFamily="34" charset="0"/>
                <a:ea typeface="Cambria" pitchFamily="34" charset="-122"/>
                <a:cs typeface="Cambria" pitchFamily="34" charset="-120"/>
              </a:rPr>
              <a:t>Search the library</a:t>
            </a:r>
            <a:endParaRPr lang="en-US" sz="1500" dirty="0"/>
          </a:p>
        </p:txBody>
      </p:sp>
      <p:sp>
        <p:nvSpPr>
          <p:cNvPr id="14" name="Text 10"/>
          <p:cNvSpPr/>
          <p:nvPr/>
        </p:nvSpPr>
        <p:spPr>
          <a:xfrm>
            <a:off x="2743200" y="3986784"/>
            <a:ext cx="2103120" cy="914400"/>
          </a:xfrm>
          <a:prstGeom prst="rect">
            <a:avLst/>
          </a:prstGeom>
          <a:noFill/>
          <a:ln/>
        </p:spPr>
        <p:txBody>
          <a:bodyPr wrap="square" lIns="0" tIns="0" rIns="0" bIns="0" rtlCol="0" anchor="ctr"/>
          <a:lstStyle/>
          <a:p>
            <a:pPr algn="ctr" indent="0" marL="0">
              <a:lnSpc>
                <a:spcPct val="108000"/>
              </a:lnSpc>
              <a:buNone/>
            </a:pPr>
            <a:r>
              <a:rPr lang="en-US" sz="1150" dirty="0">
                <a:solidFill>
                  <a:srgbClr val="CFC7BB"/>
                </a:solidFill>
                <a:latin typeface="Calibri" pitchFamily="34" charset="0"/>
                <a:ea typeface="Calibri" pitchFamily="34" charset="-122"/>
                <a:cs typeface="Calibri" pitchFamily="34" charset="-120"/>
              </a:rPr>
              <a:t>A curated set of Illinois legal sources, searched by meaning.</a:t>
            </a:r>
            <a:endParaRPr lang="en-US" sz="1150" dirty="0"/>
          </a:p>
        </p:txBody>
      </p:sp>
      <p:sp>
        <p:nvSpPr>
          <p:cNvPr id="15" name="Shape 11"/>
          <p:cNvSpPr/>
          <p:nvPr/>
        </p:nvSpPr>
        <p:spPr>
          <a:xfrm>
            <a:off x="5568696" y="2468880"/>
            <a:ext cx="841248" cy="841248"/>
          </a:xfrm>
          <a:prstGeom prst="ellipse">
            <a:avLst/>
          </a:prstGeom>
          <a:solidFill>
            <a:srgbClr val="6B1F2E"/>
          </a:solidFill>
          <a:ln/>
        </p:spPr>
      </p:sp>
      <p:pic>
        <p:nvPicPr>
          <p:cNvPr id="16" name="Image 2" descr="preencoded.png">    </p:cNvPr>
          <p:cNvPicPr>
            <a:picLocks noChangeAspect="1"/>
          </p:cNvPicPr>
          <p:nvPr/>
        </p:nvPicPr>
        <p:blipFill>
          <a:blip r:embed="rId3"/>
          <a:stretch>
            <a:fillRect/>
          </a:stretch>
        </p:blipFill>
        <p:spPr>
          <a:xfrm>
            <a:off x="5779008" y="2679192"/>
            <a:ext cx="420624" cy="420624"/>
          </a:xfrm>
          <a:prstGeom prst="rect">
            <a:avLst/>
          </a:prstGeom>
        </p:spPr>
      </p:pic>
      <p:sp>
        <p:nvSpPr>
          <p:cNvPr id="17" name="Text 12"/>
          <p:cNvSpPr/>
          <p:nvPr/>
        </p:nvSpPr>
        <p:spPr>
          <a:xfrm>
            <a:off x="5568696" y="2139696"/>
            <a:ext cx="841248" cy="274320"/>
          </a:xfrm>
          <a:prstGeom prst="rect">
            <a:avLst/>
          </a:prstGeom>
          <a:noFill/>
          <a:ln/>
        </p:spPr>
        <p:txBody>
          <a:bodyPr wrap="square" lIns="0" tIns="0" rIns="0" bIns="0" rtlCol="0" anchor="ctr"/>
          <a:lstStyle/>
          <a:p>
            <a:pPr algn="ctr" indent="0" marL="0">
              <a:buNone/>
            </a:pPr>
            <a:r>
              <a:rPr lang="en-US" sz="1400" b="1" dirty="0">
                <a:solidFill>
                  <a:srgbClr val="8FB98C"/>
                </a:solidFill>
                <a:latin typeface="Cambria" pitchFamily="34" charset="0"/>
                <a:ea typeface="Cambria" pitchFamily="34" charset="-122"/>
                <a:cs typeface="Cambria" pitchFamily="34" charset="-120"/>
              </a:rPr>
              <a:t>3</a:t>
            </a:r>
            <a:endParaRPr lang="en-US" sz="1400" dirty="0"/>
          </a:p>
        </p:txBody>
      </p:sp>
      <p:sp>
        <p:nvSpPr>
          <p:cNvPr id="18" name="Text 13"/>
          <p:cNvSpPr/>
          <p:nvPr/>
        </p:nvSpPr>
        <p:spPr>
          <a:xfrm>
            <a:off x="4937760" y="3438144"/>
            <a:ext cx="2103120" cy="548640"/>
          </a:xfrm>
          <a:prstGeom prst="rect">
            <a:avLst/>
          </a:prstGeom>
          <a:noFill/>
          <a:ln/>
        </p:spPr>
        <p:txBody>
          <a:bodyPr wrap="square" lIns="0" tIns="0" rIns="0" bIns="0" rtlCol="0" anchor="ctr"/>
          <a:lstStyle/>
          <a:p>
            <a:pPr algn="ctr" indent="0" marL="0">
              <a:buNone/>
            </a:pPr>
            <a:r>
              <a:rPr lang="en-US" sz="1500" b="1" dirty="0">
                <a:solidFill>
                  <a:srgbClr val="F3EBE0"/>
                </a:solidFill>
                <a:latin typeface="Cambria" pitchFamily="34" charset="0"/>
                <a:ea typeface="Cambria" pitchFamily="34" charset="-122"/>
                <a:cs typeface="Cambria" pitchFamily="34" charset="-120"/>
              </a:rPr>
              <a:t>Claude reads and checks</a:t>
            </a:r>
            <a:endParaRPr lang="en-US" sz="1500" dirty="0"/>
          </a:p>
        </p:txBody>
      </p:sp>
      <p:sp>
        <p:nvSpPr>
          <p:cNvPr id="19" name="Text 14"/>
          <p:cNvSpPr/>
          <p:nvPr/>
        </p:nvSpPr>
        <p:spPr>
          <a:xfrm>
            <a:off x="4937760" y="3986784"/>
            <a:ext cx="2103120" cy="914400"/>
          </a:xfrm>
          <a:prstGeom prst="rect">
            <a:avLst/>
          </a:prstGeom>
          <a:noFill/>
          <a:ln/>
        </p:spPr>
        <p:txBody>
          <a:bodyPr wrap="square" lIns="0" tIns="0" rIns="0" bIns="0" rtlCol="0" anchor="ctr"/>
          <a:lstStyle/>
          <a:p>
            <a:pPr algn="ctr" indent="0" marL="0">
              <a:lnSpc>
                <a:spcPct val="108000"/>
              </a:lnSpc>
              <a:buNone/>
            </a:pPr>
            <a:r>
              <a:rPr lang="en-US" sz="1150" dirty="0">
                <a:solidFill>
                  <a:srgbClr val="CFC7BB"/>
                </a:solidFill>
                <a:latin typeface="Calibri" pitchFamily="34" charset="0"/>
                <a:ea typeface="Calibri" pitchFamily="34" charset="-122"/>
                <a:cs typeface="Calibri" pitchFamily="34" charset="-120"/>
              </a:rPr>
              <a:t>Reads the top sources, grades its confidence, refuses out of scope.</a:t>
            </a:r>
            <a:endParaRPr lang="en-US" sz="1150" dirty="0"/>
          </a:p>
        </p:txBody>
      </p:sp>
      <p:sp>
        <p:nvSpPr>
          <p:cNvPr id="20" name="Shape 15"/>
          <p:cNvSpPr/>
          <p:nvPr/>
        </p:nvSpPr>
        <p:spPr>
          <a:xfrm>
            <a:off x="7763256" y="2468880"/>
            <a:ext cx="841248" cy="841248"/>
          </a:xfrm>
          <a:prstGeom prst="ellipse">
            <a:avLst/>
          </a:prstGeom>
          <a:solidFill>
            <a:srgbClr val="3D6B3A"/>
          </a:solidFill>
          <a:ln/>
        </p:spPr>
      </p:sp>
      <p:pic>
        <p:nvPicPr>
          <p:cNvPr id="21" name="Image 3" descr="preencoded.png">    </p:cNvPr>
          <p:cNvPicPr>
            <a:picLocks noChangeAspect="1"/>
          </p:cNvPicPr>
          <p:nvPr/>
        </p:nvPicPr>
        <p:blipFill>
          <a:blip r:embed="rId4"/>
          <a:stretch>
            <a:fillRect/>
          </a:stretch>
        </p:blipFill>
        <p:spPr>
          <a:xfrm>
            <a:off x="7973568" y="2679192"/>
            <a:ext cx="420624" cy="420624"/>
          </a:xfrm>
          <a:prstGeom prst="rect">
            <a:avLst/>
          </a:prstGeom>
        </p:spPr>
      </p:pic>
      <p:sp>
        <p:nvSpPr>
          <p:cNvPr id="22" name="Text 16"/>
          <p:cNvSpPr/>
          <p:nvPr/>
        </p:nvSpPr>
        <p:spPr>
          <a:xfrm>
            <a:off x="7763256" y="2139696"/>
            <a:ext cx="841248" cy="274320"/>
          </a:xfrm>
          <a:prstGeom prst="rect">
            <a:avLst/>
          </a:prstGeom>
          <a:noFill/>
          <a:ln/>
        </p:spPr>
        <p:txBody>
          <a:bodyPr wrap="square" lIns="0" tIns="0" rIns="0" bIns="0" rtlCol="0" anchor="ctr"/>
          <a:lstStyle/>
          <a:p>
            <a:pPr algn="ctr" indent="0" marL="0">
              <a:buNone/>
            </a:pPr>
            <a:r>
              <a:rPr lang="en-US" sz="1400" b="1" dirty="0">
                <a:solidFill>
                  <a:srgbClr val="8FB98C"/>
                </a:solidFill>
                <a:latin typeface="Cambria" pitchFamily="34" charset="0"/>
                <a:ea typeface="Cambria" pitchFamily="34" charset="-122"/>
                <a:cs typeface="Cambria" pitchFamily="34" charset="-120"/>
              </a:rPr>
              <a:t>4</a:t>
            </a:r>
            <a:endParaRPr lang="en-US" sz="1400" dirty="0"/>
          </a:p>
        </p:txBody>
      </p:sp>
      <p:sp>
        <p:nvSpPr>
          <p:cNvPr id="23" name="Text 17"/>
          <p:cNvSpPr/>
          <p:nvPr/>
        </p:nvSpPr>
        <p:spPr>
          <a:xfrm>
            <a:off x="7132320" y="3438144"/>
            <a:ext cx="2103120" cy="548640"/>
          </a:xfrm>
          <a:prstGeom prst="rect">
            <a:avLst/>
          </a:prstGeom>
          <a:noFill/>
          <a:ln/>
        </p:spPr>
        <p:txBody>
          <a:bodyPr wrap="square" lIns="0" tIns="0" rIns="0" bIns="0" rtlCol="0" anchor="ctr"/>
          <a:lstStyle/>
          <a:p>
            <a:pPr algn="ctr" indent="0" marL="0">
              <a:buNone/>
            </a:pPr>
            <a:r>
              <a:rPr lang="en-US" sz="1500" b="1" dirty="0">
                <a:solidFill>
                  <a:srgbClr val="F3EBE0"/>
                </a:solidFill>
                <a:latin typeface="Cambria" pitchFamily="34" charset="0"/>
                <a:ea typeface="Cambria" pitchFamily="34" charset="-122"/>
                <a:cs typeface="Cambria" pitchFamily="34" charset="-120"/>
              </a:rPr>
              <a:t>Cited answer</a:t>
            </a:r>
            <a:endParaRPr lang="en-US" sz="1500" dirty="0"/>
          </a:p>
        </p:txBody>
      </p:sp>
      <p:sp>
        <p:nvSpPr>
          <p:cNvPr id="24" name="Text 18"/>
          <p:cNvSpPr/>
          <p:nvPr/>
        </p:nvSpPr>
        <p:spPr>
          <a:xfrm>
            <a:off x="7132320" y="3986784"/>
            <a:ext cx="2103120" cy="914400"/>
          </a:xfrm>
          <a:prstGeom prst="rect">
            <a:avLst/>
          </a:prstGeom>
          <a:noFill/>
          <a:ln/>
        </p:spPr>
        <p:txBody>
          <a:bodyPr wrap="square" lIns="0" tIns="0" rIns="0" bIns="0" rtlCol="0" anchor="ctr"/>
          <a:lstStyle/>
          <a:p>
            <a:pPr algn="ctr" indent="0" marL="0">
              <a:lnSpc>
                <a:spcPct val="108000"/>
              </a:lnSpc>
              <a:buNone/>
            </a:pPr>
            <a:r>
              <a:rPr lang="en-US" sz="1150" dirty="0">
                <a:solidFill>
                  <a:srgbClr val="CFC7BB"/>
                </a:solidFill>
                <a:latin typeface="Calibri" pitchFamily="34" charset="0"/>
                <a:ea typeface="Calibri" pitchFamily="34" charset="-122"/>
                <a:cs typeface="Calibri" pitchFamily="34" charset="-120"/>
              </a:rPr>
              <a:t>Plain language, the exact law, and a confidence rating.</a:t>
            </a:r>
            <a:endParaRPr lang="en-US" sz="1150" dirty="0"/>
          </a:p>
        </p:txBody>
      </p:sp>
      <p:sp>
        <p:nvSpPr>
          <p:cNvPr id="25" name="Shape 19"/>
          <p:cNvSpPr/>
          <p:nvPr/>
        </p:nvSpPr>
        <p:spPr>
          <a:xfrm>
            <a:off x="9957816" y="2468880"/>
            <a:ext cx="841248" cy="841248"/>
          </a:xfrm>
          <a:prstGeom prst="ellipse">
            <a:avLst/>
          </a:prstGeom>
          <a:solidFill>
            <a:srgbClr val="6B1F2E"/>
          </a:solidFill>
          <a:ln/>
        </p:spPr>
      </p:sp>
      <p:pic>
        <p:nvPicPr>
          <p:cNvPr id="26" name="Image 4" descr="preencoded.png">    </p:cNvPr>
          <p:cNvPicPr>
            <a:picLocks noChangeAspect="1"/>
          </p:cNvPicPr>
          <p:nvPr/>
        </p:nvPicPr>
        <p:blipFill>
          <a:blip r:embed="rId5"/>
          <a:stretch>
            <a:fillRect/>
          </a:stretch>
        </p:blipFill>
        <p:spPr>
          <a:xfrm>
            <a:off x="10168128" y="2679192"/>
            <a:ext cx="420624" cy="420624"/>
          </a:xfrm>
          <a:prstGeom prst="rect">
            <a:avLst/>
          </a:prstGeom>
        </p:spPr>
      </p:pic>
      <p:sp>
        <p:nvSpPr>
          <p:cNvPr id="27" name="Text 20"/>
          <p:cNvSpPr/>
          <p:nvPr/>
        </p:nvSpPr>
        <p:spPr>
          <a:xfrm>
            <a:off x="9957816" y="2139696"/>
            <a:ext cx="841248" cy="274320"/>
          </a:xfrm>
          <a:prstGeom prst="rect">
            <a:avLst/>
          </a:prstGeom>
          <a:noFill/>
          <a:ln/>
        </p:spPr>
        <p:txBody>
          <a:bodyPr wrap="square" lIns="0" tIns="0" rIns="0" bIns="0" rtlCol="0" anchor="ctr"/>
          <a:lstStyle/>
          <a:p>
            <a:pPr algn="ctr" indent="0" marL="0">
              <a:buNone/>
            </a:pPr>
            <a:r>
              <a:rPr lang="en-US" sz="1400" b="1" dirty="0">
                <a:solidFill>
                  <a:srgbClr val="8FB98C"/>
                </a:solidFill>
                <a:latin typeface="Cambria" pitchFamily="34" charset="0"/>
                <a:ea typeface="Cambria" pitchFamily="34" charset="-122"/>
                <a:cs typeface="Cambria" pitchFamily="34" charset="-120"/>
              </a:rPr>
              <a:t>5</a:t>
            </a:r>
            <a:endParaRPr lang="en-US" sz="1400" dirty="0"/>
          </a:p>
        </p:txBody>
      </p:sp>
      <p:sp>
        <p:nvSpPr>
          <p:cNvPr id="28" name="Text 21"/>
          <p:cNvSpPr/>
          <p:nvPr/>
        </p:nvSpPr>
        <p:spPr>
          <a:xfrm>
            <a:off x="9326880" y="3438144"/>
            <a:ext cx="2103120" cy="548640"/>
          </a:xfrm>
          <a:prstGeom prst="rect">
            <a:avLst/>
          </a:prstGeom>
          <a:noFill/>
          <a:ln/>
        </p:spPr>
        <p:txBody>
          <a:bodyPr wrap="square" lIns="0" tIns="0" rIns="0" bIns="0" rtlCol="0" anchor="ctr"/>
          <a:lstStyle/>
          <a:p>
            <a:pPr algn="ctr" indent="0" marL="0">
              <a:buNone/>
            </a:pPr>
            <a:r>
              <a:rPr lang="en-US" sz="1500" b="1" dirty="0">
                <a:solidFill>
                  <a:srgbClr val="F3EBE0"/>
                </a:solidFill>
                <a:latin typeface="Cambria" pitchFamily="34" charset="0"/>
                <a:ea typeface="Cambria" pitchFamily="34" charset="-122"/>
                <a:cs typeface="Cambria" pitchFamily="34" charset="-120"/>
              </a:rPr>
              <a:t>Real referral</a:t>
            </a:r>
            <a:endParaRPr lang="en-US" sz="1500" dirty="0"/>
          </a:p>
        </p:txBody>
      </p:sp>
      <p:sp>
        <p:nvSpPr>
          <p:cNvPr id="29" name="Text 22"/>
          <p:cNvSpPr/>
          <p:nvPr/>
        </p:nvSpPr>
        <p:spPr>
          <a:xfrm>
            <a:off x="9326880" y="3986784"/>
            <a:ext cx="2103120" cy="914400"/>
          </a:xfrm>
          <a:prstGeom prst="rect">
            <a:avLst/>
          </a:prstGeom>
          <a:noFill/>
          <a:ln/>
        </p:spPr>
        <p:txBody>
          <a:bodyPr wrap="square" lIns="0" tIns="0" rIns="0" bIns="0" rtlCol="0" anchor="ctr"/>
          <a:lstStyle/>
          <a:p>
            <a:pPr algn="ctr" indent="0" marL="0">
              <a:lnSpc>
                <a:spcPct val="108000"/>
              </a:lnSpc>
              <a:buNone/>
            </a:pPr>
            <a:r>
              <a:rPr lang="en-US" sz="1150" dirty="0">
                <a:solidFill>
                  <a:srgbClr val="CFC7BB"/>
                </a:solidFill>
                <a:latin typeface="Calibri" pitchFamily="34" charset="0"/>
                <a:ea typeface="Calibri" pitchFamily="34" charset="-122"/>
                <a:cs typeface="Calibri" pitchFamily="34" charset="-120"/>
              </a:rPr>
              <a:t>A verified, free organization near you, matched by area.</a:t>
            </a:r>
            <a:endParaRPr lang="en-US" sz="1150" dirty="0"/>
          </a:p>
        </p:txBody>
      </p:sp>
      <p:sp>
        <p:nvSpPr>
          <p:cNvPr id="30" name="Shape 23"/>
          <p:cNvSpPr/>
          <p:nvPr/>
        </p:nvSpPr>
        <p:spPr>
          <a:xfrm>
            <a:off x="822960" y="5303520"/>
            <a:ext cx="10543032" cy="1024128"/>
          </a:xfrm>
          <a:prstGeom prst="roundRect">
            <a:avLst>
              <a:gd name="adj" fmla="val 8929"/>
            </a:avLst>
          </a:prstGeom>
          <a:solidFill>
            <a:srgbClr val="1D2E4D"/>
          </a:solidFill>
          <a:ln/>
        </p:spPr>
      </p:sp>
      <p:sp>
        <p:nvSpPr>
          <p:cNvPr id="31" name="Shape 24"/>
          <p:cNvSpPr/>
          <p:nvPr/>
        </p:nvSpPr>
        <p:spPr>
          <a:xfrm>
            <a:off x="1143000" y="5586984"/>
            <a:ext cx="457200" cy="457200"/>
          </a:xfrm>
          <a:prstGeom prst="ellipse">
            <a:avLst/>
          </a:prstGeom>
          <a:solidFill>
            <a:srgbClr val="3D6B3A"/>
          </a:solidFill>
          <a:ln/>
        </p:spPr>
      </p:sp>
      <p:pic>
        <p:nvPicPr>
          <p:cNvPr id="32" name="Image 5" descr="preencoded.png">    </p:cNvPr>
          <p:cNvPicPr>
            <a:picLocks noChangeAspect="1"/>
          </p:cNvPicPr>
          <p:nvPr/>
        </p:nvPicPr>
        <p:blipFill>
          <a:blip r:embed="rId6"/>
          <a:stretch>
            <a:fillRect/>
          </a:stretch>
        </p:blipFill>
        <p:spPr>
          <a:xfrm>
            <a:off x="1257300" y="5701284"/>
            <a:ext cx="228600" cy="228600"/>
          </a:xfrm>
          <a:prstGeom prst="rect">
            <a:avLst/>
          </a:prstGeom>
        </p:spPr>
      </p:pic>
      <p:sp>
        <p:nvSpPr>
          <p:cNvPr id="33" name="Text 25"/>
          <p:cNvSpPr/>
          <p:nvPr/>
        </p:nvSpPr>
        <p:spPr>
          <a:xfrm>
            <a:off x="1828800" y="5449824"/>
            <a:ext cx="9326880" cy="320040"/>
          </a:xfrm>
          <a:prstGeom prst="rect">
            <a:avLst/>
          </a:prstGeom>
          <a:noFill/>
          <a:ln/>
        </p:spPr>
        <p:txBody>
          <a:bodyPr wrap="square" lIns="0" tIns="0" rIns="0" bIns="0" rtlCol="0" anchor="ctr"/>
          <a:lstStyle/>
          <a:p>
            <a:pPr indent="0" marL="0">
              <a:buNone/>
            </a:pPr>
            <a:r>
              <a:rPr lang="en-US" sz="1500" b="1" dirty="0">
                <a:solidFill>
                  <a:srgbClr val="F3EBE0"/>
                </a:solidFill>
                <a:latin typeface="Cambria" pitchFamily="34" charset="0"/>
                <a:ea typeface="Cambria" pitchFamily="34" charset="-122"/>
                <a:cs typeface="Cambria" pitchFamily="34" charset="-120"/>
              </a:rPr>
              <a:t>How the resources work</a:t>
            </a:r>
            <a:endParaRPr lang="en-US" sz="1500" dirty="0"/>
          </a:p>
        </p:txBody>
      </p:sp>
      <p:sp>
        <p:nvSpPr>
          <p:cNvPr id="34" name="Text 26"/>
          <p:cNvSpPr/>
          <p:nvPr/>
        </p:nvSpPr>
        <p:spPr>
          <a:xfrm>
            <a:off x="1828800" y="5769864"/>
            <a:ext cx="9326880" cy="502920"/>
          </a:xfrm>
          <a:prstGeom prst="rect">
            <a:avLst/>
          </a:prstGeom>
          <a:noFill/>
          <a:ln/>
        </p:spPr>
        <p:txBody>
          <a:bodyPr wrap="square" lIns="0" tIns="0" rIns="0" bIns="0" rtlCol="0" anchor="ctr"/>
          <a:lstStyle/>
          <a:p>
            <a:pPr indent="0" marL="0">
              <a:lnSpc>
                <a:spcPct val="105000"/>
              </a:lnSpc>
              <a:buNone/>
            </a:pPr>
            <a:r>
              <a:rPr lang="en-US" sz="1200" dirty="0">
                <a:solidFill>
                  <a:srgbClr val="CFC7BB"/>
                </a:solidFill>
                <a:latin typeface="Calibri" pitchFamily="34" charset="0"/>
                <a:ea typeface="Calibri" pitchFamily="34" charset="-122"/>
                <a:cs typeface="Calibri" pitchFamily="34" charset="-120"/>
              </a:rPr>
              <a:t>Every referral is a real, verified, free organization from a directory of 44+ groups, matched to your area by ZIP. Legal sources are re-checked and re-loaded daily, so answers stay current.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BE0"/>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200" b="1" spc="200" kern="0" dirty="0">
                <a:solidFill>
                  <a:srgbClr val="6B1F2E"/>
                </a:solidFill>
                <a:latin typeface="Calibri" pitchFamily="34" charset="0"/>
                <a:ea typeface="Calibri" pitchFamily="34" charset="-122"/>
                <a:cs typeface="Calibri" pitchFamily="34" charset="-120"/>
              </a:rPr>
              <a:t>FEATURES</a:t>
            </a:r>
            <a:endParaRPr lang="en-US" sz="1200" dirty="0"/>
          </a:p>
        </p:txBody>
      </p:sp>
      <p:sp>
        <p:nvSpPr>
          <p:cNvPr id="3" name="Text 1"/>
          <p:cNvSpPr/>
          <p:nvPr/>
        </p:nvSpPr>
        <p:spPr>
          <a:xfrm>
            <a:off x="822960" y="960120"/>
            <a:ext cx="11247120" cy="822960"/>
          </a:xfrm>
          <a:prstGeom prst="rect">
            <a:avLst/>
          </a:prstGeom>
          <a:noFill/>
          <a:ln/>
        </p:spPr>
        <p:txBody>
          <a:bodyPr wrap="square" lIns="0" tIns="0" rIns="0" bIns="0" rtlCol="0" anchor="ctr"/>
          <a:lstStyle/>
          <a:p>
            <a:pPr indent="0" marL="0">
              <a:buNone/>
            </a:pPr>
            <a:r>
              <a:rPr lang="en-US" sz="3800" b="1" dirty="0">
                <a:solidFill>
                  <a:srgbClr val="15233E"/>
                </a:solidFill>
                <a:latin typeface="Cambria" pitchFamily="34" charset="0"/>
                <a:ea typeface="Cambria" pitchFamily="34" charset="-122"/>
                <a:cs typeface="Cambria" pitchFamily="34" charset="-120"/>
              </a:rPr>
              <a:t>Built for real people, not lawyers</a:t>
            </a:r>
            <a:endParaRPr lang="en-US" sz="3800" dirty="0"/>
          </a:p>
        </p:txBody>
      </p:sp>
      <p:sp>
        <p:nvSpPr>
          <p:cNvPr id="4" name="Shape 2"/>
          <p:cNvSpPr/>
          <p:nvPr/>
        </p:nvSpPr>
        <p:spPr>
          <a:xfrm>
            <a:off x="822960" y="2057400"/>
            <a:ext cx="566928" cy="566928"/>
          </a:xfrm>
          <a:prstGeom prst="ellipse">
            <a:avLst/>
          </a:prstGeom>
          <a:solidFill>
            <a:srgbClr val="6B1F2E"/>
          </a:solidFill>
          <a:ln/>
        </p:spPr>
      </p:sp>
      <p:pic>
        <p:nvPicPr>
          <p:cNvPr id="5" name="Image 0" descr="preencoded.png">    </p:cNvPr>
          <p:cNvPicPr>
            <a:picLocks noChangeAspect="1"/>
          </p:cNvPicPr>
          <p:nvPr/>
        </p:nvPicPr>
        <p:blipFill>
          <a:blip r:embed="rId1"/>
          <a:stretch>
            <a:fillRect/>
          </a:stretch>
        </p:blipFill>
        <p:spPr>
          <a:xfrm>
            <a:off x="964692" y="2199132"/>
            <a:ext cx="283464" cy="283464"/>
          </a:xfrm>
          <a:prstGeom prst="rect">
            <a:avLst/>
          </a:prstGeom>
        </p:spPr>
      </p:pic>
      <p:sp>
        <p:nvSpPr>
          <p:cNvPr id="6" name="Text 3"/>
          <p:cNvSpPr/>
          <p:nvPr/>
        </p:nvSpPr>
        <p:spPr>
          <a:xfrm>
            <a:off x="1554480" y="201168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5 languages, auto-detected</a:t>
            </a:r>
            <a:endParaRPr lang="en-US" sz="1500" dirty="0"/>
          </a:p>
        </p:txBody>
      </p:sp>
      <p:sp>
        <p:nvSpPr>
          <p:cNvPr id="7" name="Text 4"/>
          <p:cNvSpPr/>
          <p:nvPr/>
        </p:nvSpPr>
        <p:spPr>
          <a:xfrm>
            <a:off x="1554480" y="233172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English, Spanish, Chinese, Tagalog, Vietnamese</a:t>
            </a:r>
            <a:endParaRPr lang="en-US" sz="1250" dirty="0"/>
          </a:p>
        </p:txBody>
      </p:sp>
      <p:sp>
        <p:nvSpPr>
          <p:cNvPr id="8" name="Shape 5"/>
          <p:cNvSpPr/>
          <p:nvPr/>
        </p:nvSpPr>
        <p:spPr>
          <a:xfrm>
            <a:off x="6355080" y="2057400"/>
            <a:ext cx="566928" cy="566928"/>
          </a:xfrm>
          <a:prstGeom prst="ellipse">
            <a:avLst/>
          </a:prstGeom>
          <a:solidFill>
            <a:srgbClr val="3D6B3A"/>
          </a:solidFill>
          <a:ln/>
        </p:spPr>
      </p:sp>
      <p:pic>
        <p:nvPicPr>
          <p:cNvPr id="9" name="Image 1" descr="preencoded.png">    </p:cNvPr>
          <p:cNvPicPr>
            <a:picLocks noChangeAspect="1"/>
          </p:cNvPicPr>
          <p:nvPr/>
        </p:nvPicPr>
        <p:blipFill>
          <a:blip r:embed="rId2"/>
          <a:stretch>
            <a:fillRect/>
          </a:stretch>
        </p:blipFill>
        <p:spPr>
          <a:xfrm>
            <a:off x="6496812" y="2199132"/>
            <a:ext cx="283464" cy="283464"/>
          </a:xfrm>
          <a:prstGeom prst="rect">
            <a:avLst/>
          </a:prstGeom>
        </p:spPr>
      </p:pic>
      <p:sp>
        <p:nvSpPr>
          <p:cNvPr id="10" name="Text 6"/>
          <p:cNvSpPr/>
          <p:nvPr/>
        </p:nvSpPr>
        <p:spPr>
          <a:xfrm>
            <a:off x="7086600" y="201168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Read-aloud &amp; voice input</a:t>
            </a:r>
            <a:endParaRPr lang="en-US" sz="1500" dirty="0"/>
          </a:p>
        </p:txBody>
      </p:sp>
      <p:sp>
        <p:nvSpPr>
          <p:cNvPr id="11" name="Text 7"/>
          <p:cNvSpPr/>
          <p:nvPr/>
        </p:nvSpPr>
        <p:spPr>
          <a:xfrm>
            <a:off x="7086600" y="233172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Listen to answers; ask by speaking</a:t>
            </a:r>
            <a:endParaRPr lang="en-US" sz="1250" dirty="0"/>
          </a:p>
        </p:txBody>
      </p:sp>
      <p:sp>
        <p:nvSpPr>
          <p:cNvPr id="12" name="Shape 8"/>
          <p:cNvSpPr/>
          <p:nvPr/>
        </p:nvSpPr>
        <p:spPr>
          <a:xfrm>
            <a:off x="822960" y="3108960"/>
            <a:ext cx="566928" cy="566928"/>
          </a:xfrm>
          <a:prstGeom prst="ellipse">
            <a:avLst/>
          </a:prstGeom>
          <a:solidFill>
            <a:srgbClr val="6B1F2E"/>
          </a:solidFill>
          <a:ln/>
        </p:spPr>
      </p:sp>
      <p:pic>
        <p:nvPicPr>
          <p:cNvPr id="13" name="Image 2" descr="preencoded.png">    </p:cNvPr>
          <p:cNvPicPr>
            <a:picLocks noChangeAspect="1"/>
          </p:cNvPicPr>
          <p:nvPr/>
        </p:nvPicPr>
        <p:blipFill>
          <a:blip r:embed="rId3"/>
          <a:stretch>
            <a:fillRect/>
          </a:stretch>
        </p:blipFill>
        <p:spPr>
          <a:xfrm>
            <a:off x="964692" y="3250692"/>
            <a:ext cx="283464" cy="283464"/>
          </a:xfrm>
          <a:prstGeom prst="rect">
            <a:avLst/>
          </a:prstGeom>
        </p:spPr>
      </p:pic>
      <p:sp>
        <p:nvSpPr>
          <p:cNvPr id="14" name="Text 9"/>
          <p:cNvSpPr/>
          <p:nvPr/>
        </p:nvSpPr>
        <p:spPr>
          <a:xfrm>
            <a:off x="1554480" y="306324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Cited sources + confidence</a:t>
            </a:r>
            <a:endParaRPr lang="en-US" sz="1500" dirty="0"/>
          </a:p>
        </p:txBody>
      </p:sp>
      <p:sp>
        <p:nvSpPr>
          <p:cNvPr id="15" name="Text 10"/>
          <p:cNvSpPr/>
          <p:nvPr/>
        </p:nvSpPr>
        <p:spPr>
          <a:xfrm>
            <a:off x="1554480" y="338328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Every answer shows the law and how sure it is</a:t>
            </a:r>
            <a:endParaRPr lang="en-US" sz="1250" dirty="0"/>
          </a:p>
        </p:txBody>
      </p:sp>
      <p:sp>
        <p:nvSpPr>
          <p:cNvPr id="16" name="Shape 11"/>
          <p:cNvSpPr/>
          <p:nvPr/>
        </p:nvSpPr>
        <p:spPr>
          <a:xfrm>
            <a:off x="6355080" y="3108960"/>
            <a:ext cx="566928" cy="566928"/>
          </a:xfrm>
          <a:prstGeom prst="ellipse">
            <a:avLst/>
          </a:prstGeom>
          <a:solidFill>
            <a:srgbClr val="3D6B3A"/>
          </a:solidFill>
          <a:ln/>
        </p:spPr>
      </p:sp>
      <p:pic>
        <p:nvPicPr>
          <p:cNvPr id="17" name="Image 3" descr="preencoded.png">    </p:cNvPr>
          <p:cNvPicPr>
            <a:picLocks noChangeAspect="1"/>
          </p:cNvPicPr>
          <p:nvPr/>
        </p:nvPicPr>
        <p:blipFill>
          <a:blip r:embed="rId4"/>
          <a:stretch>
            <a:fillRect/>
          </a:stretch>
        </p:blipFill>
        <p:spPr>
          <a:xfrm>
            <a:off x="6496812" y="3250692"/>
            <a:ext cx="283464" cy="283464"/>
          </a:xfrm>
          <a:prstGeom prst="rect">
            <a:avLst/>
          </a:prstGeom>
        </p:spPr>
      </p:pic>
      <p:sp>
        <p:nvSpPr>
          <p:cNvPr id="18" name="Text 12"/>
          <p:cNvSpPr/>
          <p:nvPr/>
        </p:nvSpPr>
        <p:spPr>
          <a:xfrm>
            <a:off x="7086600" y="306324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Find free help near you</a:t>
            </a:r>
            <a:endParaRPr lang="en-US" sz="1500" dirty="0"/>
          </a:p>
        </p:txBody>
      </p:sp>
      <p:sp>
        <p:nvSpPr>
          <p:cNvPr id="19" name="Text 13"/>
          <p:cNvSpPr/>
          <p:nvPr/>
        </p:nvSpPr>
        <p:spPr>
          <a:xfrm>
            <a:off x="7086600" y="338328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Verified organizations, matched to your area</a:t>
            </a:r>
            <a:endParaRPr lang="en-US" sz="1250" dirty="0"/>
          </a:p>
        </p:txBody>
      </p:sp>
      <p:sp>
        <p:nvSpPr>
          <p:cNvPr id="20" name="Shape 14"/>
          <p:cNvSpPr/>
          <p:nvPr/>
        </p:nvSpPr>
        <p:spPr>
          <a:xfrm>
            <a:off x="822960" y="4160520"/>
            <a:ext cx="566928" cy="566928"/>
          </a:xfrm>
          <a:prstGeom prst="ellipse">
            <a:avLst/>
          </a:prstGeom>
          <a:solidFill>
            <a:srgbClr val="6B1F2E"/>
          </a:solidFill>
          <a:ln/>
        </p:spPr>
      </p:sp>
      <p:pic>
        <p:nvPicPr>
          <p:cNvPr id="21" name="Image 4" descr="preencoded.png">    </p:cNvPr>
          <p:cNvPicPr>
            <a:picLocks noChangeAspect="1"/>
          </p:cNvPicPr>
          <p:nvPr/>
        </p:nvPicPr>
        <p:blipFill>
          <a:blip r:embed="rId5"/>
          <a:stretch>
            <a:fillRect/>
          </a:stretch>
        </p:blipFill>
        <p:spPr>
          <a:xfrm>
            <a:off x="964692" y="4302252"/>
            <a:ext cx="283464" cy="283464"/>
          </a:xfrm>
          <a:prstGeom prst="rect">
            <a:avLst/>
          </a:prstGeom>
        </p:spPr>
      </p:pic>
      <p:sp>
        <p:nvSpPr>
          <p:cNvPr id="22" name="Text 15"/>
          <p:cNvSpPr/>
          <p:nvPr/>
        </p:nvSpPr>
        <p:spPr>
          <a:xfrm>
            <a:off x="1554480" y="411480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Deadline calculator</a:t>
            </a:r>
            <a:endParaRPr lang="en-US" sz="1500" dirty="0"/>
          </a:p>
        </p:txBody>
      </p:sp>
      <p:sp>
        <p:nvSpPr>
          <p:cNvPr id="23" name="Text 16"/>
          <p:cNvSpPr/>
          <p:nvPr/>
        </p:nvSpPr>
        <p:spPr>
          <a:xfrm>
            <a:off x="1554480" y="443484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Count the days on a notice or filing</a:t>
            </a:r>
            <a:endParaRPr lang="en-US" sz="1250" dirty="0"/>
          </a:p>
        </p:txBody>
      </p:sp>
      <p:sp>
        <p:nvSpPr>
          <p:cNvPr id="24" name="Shape 17"/>
          <p:cNvSpPr/>
          <p:nvPr/>
        </p:nvSpPr>
        <p:spPr>
          <a:xfrm>
            <a:off x="6355080" y="4160520"/>
            <a:ext cx="566928" cy="566928"/>
          </a:xfrm>
          <a:prstGeom prst="ellipse">
            <a:avLst/>
          </a:prstGeom>
          <a:solidFill>
            <a:srgbClr val="3D6B3A"/>
          </a:solidFill>
          <a:ln/>
        </p:spPr>
      </p:sp>
      <p:pic>
        <p:nvPicPr>
          <p:cNvPr id="25" name="Image 5" descr="preencoded.png">    </p:cNvPr>
          <p:cNvPicPr>
            <a:picLocks noChangeAspect="1"/>
          </p:cNvPicPr>
          <p:nvPr/>
        </p:nvPicPr>
        <p:blipFill>
          <a:blip r:embed="rId6"/>
          <a:stretch>
            <a:fillRect/>
          </a:stretch>
        </p:blipFill>
        <p:spPr>
          <a:xfrm>
            <a:off x="6496812" y="4302252"/>
            <a:ext cx="283464" cy="283464"/>
          </a:xfrm>
          <a:prstGeom prst="rect">
            <a:avLst/>
          </a:prstGeom>
        </p:spPr>
      </p:pic>
      <p:sp>
        <p:nvSpPr>
          <p:cNvPr id="26" name="Text 18"/>
          <p:cNvSpPr/>
          <p:nvPr/>
        </p:nvSpPr>
        <p:spPr>
          <a:xfrm>
            <a:off x="7086600" y="411480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Large-text &amp; high-contrast</a:t>
            </a:r>
            <a:endParaRPr lang="en-US" sz="1500" dirty="0"/>
          </a:p>
        </p:txBody>
      </p:sp>
      <p:sp>
        <p:nvSpPr>
          <p:cNvPr id="27" name="Text 19"/>
          <p:cNvSpPr/>
          <p:nvPr/>
        </p:nvSpPr>
        <p:spPr>
          <a:xfrm>
            <a:off x="7086600" y="443484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Accessible, mobile-first, works offline</a:t>
            </a:r>
            <a:endParaRPr lang="en-US" sz="1250" dirty="0"/>
          </a:p>
        </p:txBody>
      </p:sp>
      <p:sp>
        <p:nvSpPr>
          <p:cNvPr id="28" name="Shape 20"/>
          <p:cNvSpPr/>
          <p:nvPr/>
        </p:nvSpPr>
        <p:spPr>
          <a:xfrm>
            <a:off x="822960" y="5212080"/>
            <a:ext cx="566928" cy="566928"/>
          </a:xfrm>
          <a:prstGeom prst="ellipse">
            <a:avLst/>
          </a:prstGeom>
          <a:solidFill>
            <a:srgbClr val="6B1F2E"/>
          </a:solidFill>
          <a:ln/>
        </p:spPr>
      </p:sp>
      <p:pic>
        <p:nvPicPr>
          <p:cNvPr id="29" name="Image 6" descr="preencoded.png">    </p:cNvPr>
          <p:cNvPicPr>
            <a:picLocks noChangeAspect="1"/>
          </p:cNvPicPr>
          <p:nvPr/>
        </p:nvPicPr>
        <p:blipFill>
          <a:blip r:embed="rId7"/>
          <a:stretch>
            <a:fillRect/>
          </a:stretch>
        </p:blipFill>
        <p:spPr>
          <a:xfrm>
            <a:off x="964692" y="5353812"/>
            <a:ext cx="283464" cy="283464"/>
          </a:xfrm>
          <a:prstGeom prst="rect">
            <a:avLst/>
          </a:prstGeom>
        </p:spPr>
      </p:pic>
      <p:sp>
        <p:nvSpPr>
          <p:cNvPr id="30" name="Text 21"/>
          <p:cNvSpPr/>
          <p:nvPr/>
        </p:nvSpPr>
        <p:spPr>
          <a:xfrm>
            <a:off x="1554480" y="516636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Private by design</a:t>
            </a:r>
            <a:endParaRPr lang="en-US" sz="1500" dirty="0"/>
          </a:p>
        </p:txBody>
      </p:sp>
      <p:sp>
        <p:nvSpPr>
          <p:cNvPr id="31" name="Text 22"/>
          <p:cNvSpPr/>
          <p:nvPr/>
        </p:nvSpPr>
        <p:spPr>
          <a:xfrm>
            <a:off x="1554480" y="548640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No login; no personal data collected</a:t>
            </a:r>
            <a:endParaRPr lang="en-US" sz="1250" dirty="0"/>
          </a:p>
        </p:txBody>
      </p:sp>
      <p:sp>
        <p:nvSpPr>
          <p:cNvPr id="32" name="Shape 23"/>
          <p:cNvSpPr/>
          <p:nvPr/>
        </p:nvSpPr>
        <p:spPr>
          <a:xfrm>
            <a:off x="6355080" y="5212080"/>
            <a:ext cx="566928" cy="566928"/>
          </a:xfrm>
          <a:prstGeom prst="ellipse">
            <a:avLst/>
          </a:prstGeom>
          <a:solidFill>
            <a:srgbClr val="3D6B3A"/>
          </a:solidFill>
          <a:ln/>
        </p:spPr>
      </p:sp>
      <p:pic>
        <p:nvPicPr>
          <p:cNvPr id="33" name="Image 7" descr="preencoded.png">    </p:cNvPr>
          <p:cNvPicPr>
            <a:picLocks noChangeAspect="1"/>
          </p:cNvPicPr>
          <p:nvPr/>
        </p:nvPicPr>
        <p:blipFill>
          <a:blip r:embed="rId8"/>
          <a:stretch>
            <a:fillRect/>
          </a:stretch>
        </p:blipFill>
        <p:spPr>
          <a:xfrm>
            <a:off x="6496812" y="5353812"/>
            <a:ext cx="283464" cy="283464"/>
          </a:xfrm>
          <a:prstGeom prst="rect">
            <a:avLst/>
          </a:prstGeom>
        </p:spPr>
      </p:pic>
      <p:sp>
        <p:nvSpPr>
          <p:cNvPr id="34" name="Text 24"/>
          <p:cNvSpPr/>
          <p:nvPr/>
        </p:nvSpPr>
        <p:spPr>
          <a:xfrm>
            <a:off x="7086600" y="516636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Knows its limits</a:t>
            </a:r>
            <a:endParaRPr lang="en-US" sz="1500" dirty="0"/>
          </a:p>
        </p:txBody>
      </p:sp>
      <p:sp>
        <p:nvSpPr>
          <p:cNvPr id="35" name="Text 25"/>
          <p:cNvSpPr/>
          <p:nvPr/>
        </p:nvSpPr>
        <p:spPr>
          <a:xfrm>
            <a:off x="7086600" y="548640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Refuses out-of-scope; never gives legal advice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233E"/>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200" b="1" spc="200" kern="0" dirty="0">
                <a:solidFill>
                  <a:srgbClr val="8FB98C"/>
                </a:solidFill>
                <a:latin typeface="Calibri" pitchFamily="34" charset="0"/>
                <a:ea typeface="Calibri" pitchFamily="34" charset="-122"/>
                <a:cs typeface="Calibri" pitchFamily="34" charset="-120"/>
              </a:rPr>
              <a:t>AI USAGE</a:t>
            </a:r>
            <a:endParaRPr lang="en-US" sz="1200" dirty="0"/>
          </a:p>
        </p:txBody>
      </p:sp>
      <p:sp>
        <p:nvSpPr>
          <p:cNvPr id="3" name="Text 1"/>
          <p:cNvSpPr/>
          <p:nvPr/>
        </p:nvSpPr>
        <p:spPr>
          <a:xfrm>
            <a:off x="822960" y="960120"/>
            <a:ext cx="11247120" cy="822960"/>
          </a:xfrm>
          <a:prstGeom prst="rect">
            <a:avLst/>
          </a:prstGeom>
          <a:noFill/>
          <a:ln/>
        </p:spPr>
        <p:txBody>
          <a:bodyPr wrap="square" lIns="0" tIns="0" rIns="0" bIns="0" rtlCol="0" anchor="ctr"/>
          <a:lstStyle/>
          <a:p>
            <a:pPr indent="0" marL="0">
              <a:buNone/>
            </a:pPr>
            <a:r>
              <a:rPr lang="en-US" sz="3800" b="1" dirty="0">
                <a:solidFill>
                  <a:srgbClr val="F3EBE0"/>
                </a:solidFill>
                <a:latin typeface="Cambria" pitchFamily="34" charset="0"/>
                <a:ea typeface="Cambria" pitchFamily="34" charset="-122"/>
                <a:cs typeface="Cambria" pitchFamily="34" charset="-120"/>
              </a:rPr>
              <a:t>Yes, and here’s exactly how</a:t>
            </a:r>
            <a:endParaRPr lang="en-US" sz="3800" dirty="0"/>
          </a:p>
        </p:txBody>
      </p:sp>
      <p:sp>
        <p:nvSpPr>
          <p:cNvPr id="4" name="Shape 2"/>
          <p:cNvSpPr/>
          <p:nvPr/>
        </p:nvSpPr>
        <p:spPr>
          <a:xfrm>
            <a:off x="822960" y="2194560"/>
            <a:ext cx="10515600" cy="1554480"/>
          </a:xfrm>
          <a:prstGeom prst="roundRect">
            <a:avLst>
              <a:gd name="adj" fmla="val 5882"/>
            </a:avLst>
          </a:prstGeom>
          <a:solidFill>
            <a:srgbClr val="1D2E4D"/>
          </a:solidFill>
          <a:ln/>
        </p:spPr>
      </p:sp>
      <p:sp>
        <p:nvSpPr>
          <p:cNvPr id="5" name="Shape 3"/>
          <p:cNvSpPr/>
          <p:nvPr/>
        </p:nvSpPr>
        <p:spPr>
          <a:xfrm>
            <a:off x="1143000" y="2606040"/>
            <a:ext cx="731520" cy="731520"/>
          </a:xfrm>
          <a:prstGeom prst="ellipse">
            <a:avLst/>
          </a:prstGeom>
          <a:solidFill>
            <a:srgbClr val="6B1F2E"/>
          </a:solidFill>
          <a:ln/>
        </p:spPr>
      </p:sp>
      <p:pic>
        <p:nvPicPr>
          <p:cNvPr id="6" name="Image 0" descr="preencoded.png">    </p:cNvPr>
          <p:cNvPicPr>
            <a:picLocks noChangeAspect="1"/>
          </p:cNvPicPr>
          <p:nvPr/>
        </p:nvPicPr>
        <p:blipFill>
          <a:blip r:embed="rId1"/>
          <a:stretch>
            <a:fillRect/>
          </a:stretch>
        </p:blipFill>
        <p:spPr>
          <a:xfrm>
            <a:off x="1325880" y="2788920"/>
            <a:ext cx="365760" cy="365760"/>
          </a:xfrm>
          <a:prstGeom prst="rect">
            <a:avLst/>
          </a:prstGeom>
        </p:spPr>
      </p:pic>
      <p:sp>
        <p:nvSpPr>
          <p:cNvPr id="7" name="Text 4"/>
          <p:cNvSpPr/>
          <p:nvPr/>
        </p:nvSpPr>
        <p:spPr>
          <a:xfrm>
            <a:off x="2148840" y="2450592"/>
            <a:ext cx="8778240" cy="365760"/>
          </a:xfrm>
          <a:prstGeom prst="rect">
            <a:avLst/>
          </a:prstGeom>
          <a:noFill/>
          <a:ln/>
        </p:spPr>
        <p:txBody>
          <a:bodyPr wrap="square" lIns="0" tIns="0" rIns="0" bIns="0" rtlCol="0" anchor="ctr"/>
          <a:lstStyle/>
          <a:p>
            <a:pPr indent="0" marL="0">
              <a:buNone/>
            </a:pPr>
            <a:r>
              <a:rPr lang="en-US" sz="1900" b="1" dirty="0">
                <a:solidFill>
                  <a:srgbClr val="F3EBE0"/>
                </a:solidFill>
                <a:latin typeface="Cambria" pitchFamily="34" charset="0"/>
                <a:ea typeface="Cambria" pitchFamily="34" charset="-122"/>
                <a:cs typeface="Cambria" pitchFamily="34" charset="-120"/>
              </a:rPr>
              <a:t>In the product</a:t>
            </a:r>
            <a:endParaRPr lang="en-US" sz="1900" dirty="0"/>
          </a:p>
        </p:txBody>
      </p:sp>
      <p:sp>
        <p:nvSpPr>
          <p:cNvPr id="8" name="Text 5"/>
          <p:cNvSpPr/>
          <p:nvPr/>
        </p:nvSpPr>
        <p:spPr>
          <a:xfrm>
            <a:off x="2148840" y="2852928"/>
            <a:ext cx="8869680" cy="777240"/>
          </a:xfrm>
          <a:prstGeom prst="rect">
            <a:avLst/>
          </a:prstGeom>
          <a:noFill/>
          <a:ln/>
        </p:spPr>
        <p:txBody>
          <a:bodyPr wrap="square" lIns="0" tIns="0" rIns="0" bIns="0" rtlCol="0" anchor="ctr"/>
          <a:lstStyle/>
          <a:p>
            <a:pPr indent="0" marL="0">
              <a:lnSpc>
                <a:spcPct val="110000"/>
              </a:lnSpc>
              <a:buNone/>
            </a:pPr>
            <a:r>
              <a:rPr lang="en-US" sz="1400" dirty="0">
                <a:solidFill>
                  <a:srgbClr val="CFC7BB"/>
                </a:solidFill>
                <a:latin typeface="Calibri" pitchFamily="34" charset="0"/>
                <a:ea typeface="Calibri" pitchFamily="34" charset="-122"/>
                <a:cs typeface="Calibri" pitchFamily="34" charset="-120"/>
              </a:rPr>
              <a:t>The answer engine runs on Claude (Anthropic). It retrieves from a curated legal library plus allow-listed web search, grades its own confidence, cites every source, and refuses anything outside its scope, so it stays grounded and honest.</a:t>
            </a:r>
            <a:endParaRPr lang="en-US" sz="1400" dirty="0"/>
          </a:p>
        </p:txBody>
      </p:sp>
      <p:sp>
        <p:nvSpPr>
          <p:cNvPr id="9" name="Shape 6"/>
          <p:cNvSpPr/>
          <p:nvPr/>
        </p:nvSpPr>
        <p:spPr>
          <a:xfrm>
            <a:off x="822960" y="4023360"/>
            <a:ext cx="10515600" cy="1554480"/>
          </a:xfrm>
          <a:prstGeom prst="roundRect">
            <a:avLst>
              <a:gd name="adj" fmla="val 5882"/>
            </a:avLst>
          </a:prstGeom>
          <a:solidFill>
            <a:srgbClr val="1D2E4D"/>
          </a:solidFill>
          <a:ln/>
        </p:spPr>
      </p:sp>
      <p:sp>
        <p:nvSpPr>
          <p:cNvPr id="10" name="Shape 7"/>
          <p:cNvSpPr/>
          <p:nvPr/>
        </p:nvSpPr>
        <p:spPr>
          <a:xfrm>
            <a:off x="1143000" y="4434840"/>
            <a:ext cx="731520" cy="731520"/>
          </a:xfrm>
          <a:prstGeom prst="ellipse">
            <a:avLst/>
          </a:prstGeom>
          <a:solidFill>
            <a:srgbClr val="3D6B3A"/>
          </a:solidFill>
          <a:ln/>
        </p:spPr>
      </p:sp>
      <p:pic>
        <p:nvPicPr>
          <p:cNvPr id="11" name="Image 1" descr="preencoded.png">    </p:cNvPr>
          <p:cNvPicPr>
            <a:picLocks noChangeAspect="1"/>
          </p:cNvPicPr>
          <p:nvPr/>
        </p:nvPicPr>
        <p:blipFill>
          <a:blip r:embed="rId2"/>
          <a:stretch>
            <a:fillRect/>
          </a:stretch>
        </p:blipFill>
        <p:spPr>
          <a:xfrm>
            <a:off x="1325880" y="4617720"/>
            <a:ext cx="365760" cy="365760"/>
          </a:xfrm>
          <a:prstGeom prst="rect">
            <a:avLst/>
          </a:prstGeom>
        </p:spPr>
      </p:pic>
      <p:sp>
        <p:nvSpPr>
          <p:cNvPr id="12" name="Text 8"/>
          <p:cNvSpPr/>
          <p:nvPr/>
        </p:nvSpPr>
        <p:spPr>
          <a:xfrm>
            <a:off x="2148840" y="4279392"/>
            <a:ext cx="8778240" cy="365760"/>
          </a:xfrm>
          <a:prstGeom prst="rect">
            <a:avLst/>
          </a:prstGeom>
          <a:noFill/>
          <a:ln/>
        </p:spPr>
        <p:txBody>
          <a:bodyPr wrap="square" lIns="0" tIns="0" rIns="0" bIns="0" rtlCol="0" anchor="ctr"/>
          <a:lstStyle/>
          <a:p>
            <a:pPr indent="0" marL="0">
              <a:buNone/>
            </a:pPr>
            <a:r>
              <a:rPr lang="en-US" sz="1900" b="1" dirty="0">
                <a:solidFill>
                  <a:srgbClr val="F3EBE0"/>
                </a:solidFill>
                <a:latin typeface="Cambria" pitchFamily="34" charset="0"/>
                <a:ea typeface="Cambria" pitchFamily="34" charset="-122"/>
                <a:cs typeface="Cambria" pitchFamily="34" charset="-120"/>
              </a:rPr>
              <a:t>In building it</a:t>
            </a:r>
            <a:endParaRPr lang="en-US" sz="1900" dirty="0"/>
          </a:p>
        </p:txBody>
      </p:sp>
      <p:sp>
        <p:nvSpPr>
          <p:cNvPr id="13" name="Text 9"/>
          <p:cNvSpPr/>
          <p:nvPr/>
        </p:nvSpPr>
        <p:spPr>
          <a:xfrm>
            <a:off x="2148840" y="4681728"/>
            <a:ext cx="8869680" cy="777240"/>
          </a:xfrm>
          <a:prstGeom prst="rect">
            <a:avLst/>
          </a:prstGeom>
          <a:noFill/>
          <a:ln/>
        </p:spPr>
        <p:txBody>
          <a:bodyPr wrap="square" lIns="0" tIns="0" rIns="0" bIns="0" rtlCol="0" anchor="ctr"/>
          <a:lstStyle/>
          <a:p>
            <a:pPr indent="0" marL="0">
              <a:lnSpc>
                <a:spcPct val="110000"/>
              </a:lnSpc>
              <a:buNone/>
            </a:pPr>
            <a:r>
              <a:rPr lang="en-US" sz="1400" dirty="0">
                <a:solidFill>
                  <a:srgbClr val="CFC7BB"/>
                </a:solidFill>
                <a:latin typeface="Calibri" pitchFamily="34" charset="0"/>
                <a:ea typeface="Calibri" pitchFamily="34" charset="-122"/>
                <a:cs typeface="Calibri" pitchFamily="34" charset="-120"/>
              </a:rPr>
              <a:t>I built it with Claude Code as a pair-programmer, features, tests, and first-draft translations for all 5 languages, each clearly flagged as machine-assisted and pending native-speaker review.</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BE0"/>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200" b="1" spc="200" kern="0" dirty="0">
                <a:solidFill>
                  <a:srgbClr val="6B1F2E"/>
                </a:solidFill>
                <a:latin typeface="Calibri" pitchFamily="34" charset="0"/>
                <a:ea typeface="Calibri" pitchFamily="34" charset="-122"/>
                <a:cs typeface="Calibri" pitchFamily="34" charset="-120"/>
              </a:rPr>
              <a:t>LESSONS LEARNED</a:t>
            </a:r>
            <a:endParaRPr lang="en-US" sz="1200" dirty="0"/>
          </a:p>
        </p:txBody>
      </p:sp>
      <p:sp>
        <p:nvSpPr>
          <p:cNvPr id="3" name="Text 1"/>
          <p:cNvSpPr/>
          <p:nvPr/>
        </p:nvSpPr>
        <p:spPr>
          <a:xfrm>
            <a:off x="822960" y="960120"/>
            <a:ext cx="11247120" cy="822960"/>
          </a:xfrm>
          <a:prstGeom prst="rect">
            <a:avLst/>
          </a:prstGeom>
          <a:noFill/>
          <a:ln/>
        </p:spPr>
        <p:txBody>
          <a:bodyPr wrap="square" lIns="0" tIns="0" rIns="0" bIns="0" rtlCol="0" anchor="ctr"/>
          <a:lstStyle/>
          <a:p>
            <a:pPr indent="0" marL="0">
              <a:buNone/>
            </a:pPr>
            <a:r>
              <a:rPr lang="en-US" sz="3800" b="1" dirty="0">
                <a:solidFill>
                  <a:srgbClr val="15233E"/>
                </a:solidFill>
                <a:latin typeface="Cambria" pitchFamily="34" charset="0"/>
                <a:ea typeface="Cambria" pitchFamily="34" charset="-122"/>
                <a:cs typeface="Cambria" pitchFamily="34" charset="-120"/>
              </a:rPr>
              <a:t>The hard part wasn’t the AI</a:t>
            </a:r>
            <a:endParaRPr lang="en-US" sz="3800" dirty="0"/>
          </a:p>
        </p:txBody>
      </p:sp>
      <p:sp>
        <p:nvSpPr>
          <p:cNvPr id="4" name="Shape 2"/>
          <p:cNvSpPr/>
          <p:nvPr/>
        </p:nvSpPr>
        <p:spPr>
          <a:xfrm>
            <a:off x="822960" y="2103120"/>
            <a:ext cx="731520" cy="731520"/>
          </a:xfrm>
          <a:prstGeom prst="ellipse">
            <a:avLst/>
          </a:prstGeom>
          <a:solidFill>
            <a:srgbClr val="6B1F2E"/>
          </a:solidFill>
          <a:ln/>
        </p:spPr>
      </p:sp>
      <p:pic>
        <p:nvPicPr>
          <p:cNvPr id="5" name="Image 0" descr="preencoded.png">    </p:cNvPr>
          <p:cNvPicPr>
            <a:picLocks noChangeAspect="1"/>
          </p:cNvPicPr>
          <p:nvPr/>
        </p:nvPicPr>
        <p:blipFill>
          <a:blip r:embed="rId1"/>
          <a:stretch>
            <a:fillRect/>
          </a:stretch>
        </p:blipFill>
        <p:spPr>
          <a:xfrm>
            <a:off x="1005840" y="2286000"/>
            <a:ext cx="365760" cy="365760"/>
          </a:xfrm>
          <a:prstGeom prst="rect">
            <a:avLst/>
          </a:prstGeom>
        </p:spPr>
      </p:pic>
      <p:sp>
        <p:nvSpPr>
          <p:cNvPr id="6" name="Text 3"/>
          <p:cNvSpPr/>
          <p:nvPr/>
        </p:nvSpPr>
        <p:spPr>
          <a:xfrm>
            <a:off x="1783080" y="2057400"/>
            <a:ext cx="9509760" cy="365760"/>
          </a:xfrm>
          <a:prstGeom prst="rect">
            <a:avLst/>
          </a:prstGeom>
          <a:noFill/>
          <a:ln/>
        </p:spPr>
        <p:txBody>
          <a:bodyPr wrap="square" lIns="0" tIns="0" rIns="0" bIns="0" rtlCol="0" anchor="ctr"/>
          <a:lstStyle/>
          <a:p>
            <a:pPr indent="0" marL="0">
              <a:buNone/>
            </a:pPr>
            <a:r>
              <a:rPr lang="en-US" sz="1700" b="1" dirty="0">
                <a:solidFill>
                  <a:srgbClr val="15233E"/>
                </a:solidFill>
                <a:latin typeface="Calibri" pitchFamily="34" charset="0"/>
                <a:ea typeface="Calibri" pitchFamily="34" charset="-122"/>
                <a:cs typeface="Calibri" pitchFamily="34" charset="-120"/>
              </a:rPr>
              <a:t>Most challenging</a:t>
            </a:r>
            <a:endParaRPr lang="en-US" sz="1700" dirty="0"/>
          </a:p>
        </p:txBody>
      </p:sp>
      <p:sp>
        <p:nvSpPr>
          <p:cNvPr id="7" name="Text 4"/>
          <p:cNvSpPr/>
          <p:nvPr/>
        </p:nvSpPr>
        <p:spPr>
          <a:xfrm>
            <a:off x="1783080" y="2423160"/>
            <a:ext cx="9509760" cy="731520"/>
          </a:xfrm>
          <a:prstGeom prst="rect">
            <a:avLst/>
          </a:prstGeom>
          <a:noFill/>
          <a:ln/>
        </p:spPr>
        <p:txBody>
          <a:bodyPr wrap="square" lIns="0" tIns="0" rIns="0" bIns="0" rtlCol="0" anchor="ctr"/>
          <a:lstStyle/>
          <a:p>
            <a:pPr indent="0" marL="0">
              <a:lnSpc>
                <a:spcPct val="110000"/>
              </a:lnSpc>
              <a:buNone/>
            </a:pPr>
            <a:r>
              <a:rPr lang="en-US" sz="1450" dirty="0">
                <a:solidFill>
                  <a:srgbClr val="5F5950"/>
                </a:solidFill>
                <a:latin typeface="Calibri" pitchFamily="34" charset="0"/>
                <a:ea typeface="Calibri" pitchFamily="34" charset="-122"/>
                <a:cs typeface="Calibri" pitchFamily="34" charset="-120"/>
              </a:rPr>
              <a:t>Making an LLM trustworthy for legal info, grounding every answer in real sources, adding a confidence gate, and teaching it to refuse gracefully instead of guessing.</a:t>
            </a:r>
            <a:endParaRPr lang="en-US" sz="1450" dirty="0"/>
          </a:p>
        </p:txBody>
      </p:sp>
      <p:sp>
        <p:nvSpPr>
          <p:cNvPr id="8" name="Shape 5"/>
          <p:cNvSpPr/>
          <p:nvPr/>
        </p:nvSpPr>
        <p:spPr>
          <a:xfrm>
            <a:off x="822960" y="3383280"/>
            <a:ext cx="731520" cy="731520"/>
          </a:xfrm>
          <a:prstGeom prst="ellipse">
            <a:avLst/>
          </a:prstGeom>
          <a:solidFill>
            <a:srgbClr val="3D6B3A"/>
          </a:solidFill>
          <a:ln/>
        </p:spPr>
      </p:sp>
      <p:pic>
        <p:nvPicPr>
          <p:cNvPr id="9" name="Image 1" descr="preencoded.png">    </p:cNvPr>
          <p:cNvPicPr>
            <a:picLocks noChangeAspect="1"/>
          </p:cNvPicPr>
          <p:nvPr/>
        </p:nvPicPr>
        <p:blipFill>
          <a:blip r:embed="rId2"/>
          <a:stretch>
            <a:fillRect/>
          </a:stretch>
        </p:blipFill>
        <p:spPr>
          <a:xfrm>
            <a:off x="1005840" y="3566160"/>
            <a:ext cx="365760" cy="365760"/>
          </a:xfrm>
          <a:prstGeom prst="rect">
            <a:avLst/>
          </a:prstGeom>
        </p:spPr>
      </p:pic>
      <p:sp>
        <p:nvSpPr>
          <p:cNvPr id="10" name="Text 6"/>
          <p:cNvSpPr/>
          <p:nvPr/>
        </p:nvSpPr>
        <p:spPr>
          <a:xfrm>
            <a:off x="1783080" y="3337560"/>
            <a:ext cx="9509760" cy="365760"/>
          </a:xfrm>
          <a:prstGeom prst="rect">
            <a:avLst/>
          </a:prstGeom>
          <a:noFill/>
          <a:ln/>
        </p:spPr>
        <p:txBody>
          <a:bodyPr wrap="square" lIns="0" tIns="0" rIns="0" bIns="0" rtlCol="0" anchor="ctr"/>
          <a:lstStyle/>
          <a:p>
            <a:pPr indent="0" marL="0">
              <a:buNone/>
            </a:pPr>
            <a:r>
              <a:rPr lang="en-US" sz="1700" b="1" dirty="0">
                <a:solidFill>
                  <a:srgbClr val="15233E"/>
                </a:solidFill>
                <a:latin typeface="Calibri" pitchFamily="34" charset="0"/>
                <a:ea typeface="Calibri" pitchFamily="34" charset="-122"/>
                <a:cs typeface="Calibri" pitchFamily="34" charset="-120"/>
              </a:rPr>
              <a:t>Most surprising</a:t>
            </a:r>
            <a:endParaRPr lang="en-US" sz="1700" dirty="0"/>
          </a:p>
        </p:txBody>
      </p:sp>
      <p:sp>
        <p:nvSpPr>
          <p:cNvPr id="11" name="Text 7"/>
          <p:cNvSpPr/>
          <p:nvPr/>
        </p:nvSpPr>
        <p:spPr>
          <a:xfrm>
            <a:off x="1783080" y="3703320"/>
            <a:ext cx="9509760" cy="731520"/>
          </a:xfrm>
          <a:prstGeom prst="rect">
            <a:avLst/>
          </a:prstGeom>
          <a:noFill/>
          <a:ln/>
        </p:spPr>
        <p:txBody>
          <a:bodyPr wrap="square" lIns="0" tIns="0" rIns="0" bIns="0" rtlCol="0" anchor="ctr"/>
          <a:lstStyle/>
          <a:p>
            <a:pPr indent="0" marL="0">
              <a:lnSpc>
                <a:spcPct val="110000"/>
              </a:lnSpc>
              <a:buNone/>
            </a:pPr>
            <a:r>
              <a:rPr lang="en-US" sz="1450" dirty="0">
                <a:solidFill>
                  <a:srgbClr val="5F5950"/>
                </a:solidFill>
                <a:latin typeface="Calibri" pitchFamily="34" charset="0"/>
                <a:ea typeface="Calibri" pitchFamily="34" charset="-122"/>
                <a:cs typeface="Calibri" pitchFamily="34" charset="-120"/>
              </a:rPr>
              <a:t>The design matters as much as the model. Plain language, translation, and accessibility are what actually make it usable for everyone.</a:t>
            </a:r>
            <a:endParaRPr lang="en-US" sz="1450" dirty="0"/>
          </a:p>
        </p:txBody>
      </p:sp>
      <p:sp>
        <p:nvSpPr>
          <p:cNvPr id="12" name="Shape 8"/>
          <p:cNvSpPr/>
          <p:nvPr/>
        </p:nvSpPr>
        <p:spPr>
          <a:xfrm>
            <a:off x="822960" y="4663440"/>
            <a:ext cx="731520" cy="731520"/>
          </a:xfrm>
          <a:prstGeom prst="ellipse">
            <a:avLst/>
          </a:prstGeom>
          <a:solidFill>
            <a:srgbClr val="6B1F2E"/>
          </a:solidFill>
          <a:ln/>
        </p:spPr>
      </p:sp>
      <p:pic>
        <p:nvPicPr>
          <p:cNvPr id="13" name="Image 2" descr="preencoded.png">    </p:cNvPr>
          <p:cNvPicPr>
            <a:picLocks noChangeAspect="1"/>
          </p:cNvPicPr>
          <p:nvPr/>
        </p:nvPicPr>
        <p:blipFill>
          <a:blip r:embed="rId3"/>
          <a:stretch>
            <a:fillRect/>
          </a:stretch>
        </p:blipFill>
        <p:spPr>
          <a:xfrm>
            <a:off x="1005840" y="4846320"/>
            <a:ext cx="365760" cy="365760"/>
          </a:xfrm>
          <a:prstGeom prst="rect">
            <a:avLst/>
          </a:prstGeom>
        </p:spPr>
      </p:pic>
      <p:sp>
        <p:nvSpPr>
          <p:cNvPr id="14" name="Text 9"/>
          <p:cNvSpPr/>
          <p:nvPr/>
        </p:nvSpPr>
        <p:spPr>
          <a:xfrm>
            <a:off x="1783080" y="4617720"/>
            <a:ext cx="9509760" cy="365760"/>
          </a:xfrm>
          <a:prstGeom prst="rect">
            <a:avLst/>
          </a:prstGeom>
          <a:noFill/>
          <a:ln/>
        </p:spPr>
        <p:txBody>
          <a:bodyPr wrap="square" lIns="0" tIns="0" rIns="0" bIns="0" rtlCol="0" anchor="ctr"/>
          <a:lstStyle/>
          <a:p>
            <a:pPr indent="0" marL="0">
              <a:buNone/>
            </a:pPr>
            <a:r>
              <a:rPr lang="en-US" sz="1700" b="1" dirty="0">
                <a:solidFill>
                  <a:srgbClr val="15233E"/>
                </a:solidFill>
                <a:latin typeface="Calibri" pitchFamily="34" charset="0"/>
                <a:ea typeface="Calibri" pitchFamily="34" charset="-122"/>
                <a:cs typeface="Calibri" pitchFamily="34" charset="-120"/>
              </a:rPr>
              <a:t>Most proud of</a:t>
            </a:r>
            <a:endParaRPr lang="en-US" sz="1700" dirty="0"/>
          </a:p>
        </p:txBody>
      </p:sp>
      <p:sp>
        <p:nvSpPr>
          <p:cNvPr id="15" name="Text 10"/>
          <p:cNvSpPr/>
          <p:nvPr/>
        </p:nvSpPr>
        <p:spPr>
          <a:xfrm>
            <a:off x="1783080" y="4983480"/>
            <a:ext cx="9509760" cy="731520"/>
          </a:xfrm>
          <a:prstGeom prst="rect">
            <a:avLst/>
          </a:prstGeom>
          <a:noFill/>
          <a:ln/>
        </p:spPr>
        <p:txBody>
          <a:bodyPr wrap="square" lIns="0" tIns="0" rIns="0" bIns="0" rtlCol="0" anchor="ctr"/>
          <a:lstStyle/>
          <a:p>
            <a:pPr indent="0" marL="0">
              <a:lnSpc>
                <a:spcPct val="110000"/>
              </a:lnSpc>
              <a:buNone/>
            </a:pPr>
            <a:r>
              <a:rPr lang="en-US" sz="1450" dirty="0">
                <a:solidFill>
                  <a:srgbClr val="5F5950"/>
                </a:solidFill>
                <a:latin typeface="Calibri" pitchFamily="34" charset="0"/>
                <a:ea typeface="Calibri" pitchFamily="34" charset="-122"/>
                <a:cs typeface="Calibri" pitchFamily="34" charset="-120"/>
              </a:rPr>
              <a:t>It cites real Illinois law and routes to real, verified help, usable by someone on a phone, in Spanish, in a stressful moment.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BE0"/>
        </a:solidFill>
      </p:bgPr>
    </p:bg>
    <p:spTree>
      <p:nvGrpSpPr>
        <p:cNvPr id="1" name=""/>
        <p:cNvGrpSpPr/>
        <p:nvPr/>
      </p:nvGrpSpPr>
      <p:grpSpPr>
        <a:xfrm>
          <a:off x="0" y="0"/>
          <a:ext cx="0" cy="0"/>
          <a:chOff x="0" y="0"/>
          <a:chExt cx="0" cy="0"/>
        </a:xfrm>
      </p:grpSpPr>
      <p:sp>
        <p:nvSpPr>
          <p:cNvPr id="2" name="Text 0"/>
          <p:cNvSpPr/>
          <p:nvPr/>
        </p:nvSpPr>
        <p:spPr>
          <a:xfrm>
            <a:off x="822960" y="640080"/>
            <a:ext cx="7315200" cy="274320"/>
          </a:xfrm>
          <a:prstGeom prst="rect">
            <a:avLst/>
          </a:prstGeom>
          <a:noFill/>
          <a:ln/>
        </p:spPr>
        <p:txBody>
          <a:bodyPr wrap="square" lIns="0" tIns="0" rIns="0" bIns="0" rtlCol="0" anchor="ctr"/>
          <a:lstStyle/>
          <a:p>
            <a:pPr indent="0" marL="0">
              <a:buNone/>
            </a:pPr>
            <a:r>
              <a:rPr lang="en-US" sz="1200" b="1" spc="200" kern="0" dirty="0">
                <a:solidFill>
                  <a:srgbClr val="6B1F2E"/>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822960" y="960120"/>
            <a:ext cx="11247120" cy="822960"/>
          </a:xfrm>
          <a:prstGeom prst="rect">
            <a:avLst/>
          </a:prstGeom>
          <a:noFill/>
          <a:ln/>
        </p:spPr>
        <p:txBody>
          <a:bodyPr wrap="square" lIns="0" tIns="0" rIns="0" bIns="0" rtlCol="0" anchor="ctr"/>
          <a:lstStyle/>
          <a:p>
            <a:pPr indent="0" marL="0">
              <a:buNone/>
            </a:pPr>
            <a:r>
              <a:rPr lang="en-US" sz="3800" b="1" dirty="0">
                <a:solidFill>
                  <a:srgbClr val="15233E"/>
                </a:solidFill>
                <a:latin typeface="Cambria" pitchFamily="34" charset="0"/>
                <a:ea typeface="Cambria" pitchFamily="34" charset="-122"/>
                <a:cs typeface="Cambria" pitchFamily="34" charset="-120"/>
              </a:rPr>
              <a:t>From showcase to real help</a:t>
            </a:r>
            <a:endParaRPr lang="en-US" sz="3800" dirty="0"/>
          </a:p>
        </p:txBody>
      </p:sp>
      <p:sp>
        <p:nvSpPr>
          <p:cNvPr id="4" name="Shape 2"/>
          <p:cNvSpPr/>
          <p:nvPr/>
        </p:nvSpPr>
        <p:spPr>
          <a:xfrm>
            <a:off x="822960" y="2103120"/>
            <a:ext cx="566928" cy="566928"/>
          </a:xfrm>
          <a:prstGeom prst="ellipse">
            <a:avLst/>
          </a:prstGeom>
          <a:solidFill>
            <a:srgbClr val="6B1F2E"/>
          </a:solidFill>
          <a:ln/>
        </p:spPr>
      </p:sp>
      <p:pic>
        <p:nvPicPr>
          <p:cNvPr id="5" name="Image 0" descr="preencoded.png">    </p:cNvPr>
          <p:cNvPicPr>
            <a:picLocks noChangeAspect="1"/>
          </p:cNvPicPr>
          <p:nvPr/>
        </p:nvPicPr>
        <p:blipFill>
          <a:blip r:embed="rId1"/>
          <a:stretch>
            <a:fillRect/>
          </a:stretch>
        </p:blipFill>
        <p:spPr>
          <a:xfrm>
            <a:off x="964692" y="2244852"/>
            <a:ext cx="283464" cy="283464"/>
          </a:xfrm>
          <a:prstGeom prst="rect">
            <a:avLst/>
          </a:prstGeom>
        </p:spPr>
      </p:pic>
      <p:sp>
        <p:nvSpPr>
          <p:cNvPr id="6" name="Text 3"/>
          <p:cNvSpPr/>
          <p:nvPr/>
        </p:nvSpPr>
        <p:spPr>
          <a:xfrm>
            <a:off x="1554480" y="205740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Native-speaker review</a:t>
            </a:r>
            <a:endParaRPr lang="en-US" sz="1500" dirty="0"/>
          </a:p>
        </p:txBody>
      </p:sp>
      <p:sp>
        <p:nvSpPr>
          <p:cNvPr id="7" name="Text 4"/>
          <p:cNvSpPr/>
          <p:nvPr/>
        </p:nvSpPr>
        <p:spPr>
          <a:xfrm>
            <a:off x="1554480" y="237744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Verify every translation with community reviewers</a:t>
            </a:r>
            <a:endParaRPr lang="en-US" sz="1250" dirty="0"/>
          </a:p>
        </p:txBody>
      </p:sp>
      <p:sp>
        <p:nvSpPr>
          <p:cNvPr id="8" name="Shape 5"/>
          <p:cNvSpPr/>
          <p:nvPr/>
        </p:nvSpPr>
        <p:spPr>
          <a:xfrm>
            <a:off x="6355080" y="2103120"/>
            <a:ext cx="566928" cy="566928"/>
          </a:xfrm>
          <a:prstGeom prst="ellipse">
            <a:avLst/>
          </a:prstGeom>
          <a:solidFill>
            <a:srgbClr val="3D6B3A"/>
          </a:solidFill>
          <a:ln/>
        </p:spPr>
      </p:sp>
      <p:pic>
        <p:nvPicPr>
          <p:cNvPr id="9" name="Image 1" descr="preencoded.png">    </p:cNvPr>
          <p:cNvPicPr>
            <a:picLocks noChangeAspect="1"/>
          </p:cNvPicPr>
          <p:nvPr/>
        </p:nvPicPr>
        <p:blipFill>
          <a:blip r:embed="rId2"/>
          <a:stretch>
            <a:fillRect/>
          </a:stretch>
        </p:blipFill>
        <p:spPr>
          <a:xfrm>
            <a:off x="6496812" y="2244852"/>
            <a:ext cx="283464" cy="283464"/>
          </a:xfrm>
          <a:prstGeom prst="rect">
            <a:avLst/>
          </a:prstGeom>
        </p:spPr>
      </p:pic>
      <p:sp>
        <p:nvSpPr>
          <p:cNvPr id="10" name="Text 6"/>
          <p:cNvSpPr/>
          <p:nvPr/>
        </p:nvSpPr>
        <p:spPr>
          <a:xfrm>
            <a:off x="7086600" y="205740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Deploy publicly</a:t>
            </a:r>
            <a:endParaRPr lang="en-US" sz="1500" dirty="0"/>
          </a:p>
        </p:txBody>
      </p:sp>
      <p:sp>
        <p:nvSpPr>
          <p:cNvPr id="11" name="Text 7"/>
          <p:cNvSpPr/>
          <p:nvPr/>
        </p:nvSpPr>
        <p:spPr>
          <a:xfrm>
            <a:off x="7086600" y="237744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A live link anyone can use (Vercel + Railway)</a:t>
            </a:r>
            <a:endParaRPr lang="en-US" sz="1250" dirty="0"/>
          </a:p>
        </p:txBody>
      </p:sp>
      <p:sp>
        <p:nvSpPr>
          <p:cNvPr id="12" name="Shape 8"/>
          <p:cNvSpPr/>
          <p:nvPr/>
        </p:nvSpPr>
        <p:spPr>
          <a:xfrm>
            <a:off x="822960" y="3337560"/>
            <a:ext cx="566928" cy="566928"/>
          </a:xfrm>
          <a:prstGeom prst="ellipse">
            <a:avLst/>
          </a:prstGeom>
          <a:solidFill>
            <a:srgbClr val="6B1F2E"/>
          </a:solidFill>
          <a:ln/>
        </p:spPr>
      </p:sp>
      <p:pic>
        <p:nvPicPr>
          <p:cNvPr id="13" name="Image 2" descr="preencoded.png">    </p:cNvPr>
          <p:cNvPicPr>
            <a:picLocks noChangeAspect="1"/>
          </p:cNvPicPr>
          <p:nvPr/>
        </p:nvPicPr>
        <p:blipFill>
          <a:blip r:embed="rId3"/>
          <a:stretch>
            <a:fillRect/>
          </a:stretch>
        </p:blipFill>
        <p:spPr>
          <a:xfrm>
            <a:off x="964692" y="3479292"/>
            <a:ext cx="283464" cy="283464"/>
          </a:xfrm>
          <a:prstGeom prst="rect">
            <a:avLst/>
          </a:prstGeom>
        </p:spPr>
      </p:pic>
      <p:sp>
        <p:nvSpPr>
          <p:cNvPr id="14" name="Text 9"/>
          <p:cNvSpPr/>
          <p:nvPr/>
        </p:nvSpPr>
        <p:spPr>
          <a:xfrm>
            <a:off x="1554480" y="329184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More topics</a:t>
            </a:r>
            <a:endParaRPr lang="en-US" sz="1500" dirty="0"/>
          </a:p>
        </p:txBody>
      </p:sp>
      <p:sp>
        <p:nvSpPr>
          <p:cNvPr id="15" name="Text 10"/>
          <p:cNvSpPr/>
          <p:nvPr/>
        </p:nvSpPr>
        <p:spPr>
          <a:xfrm>
            <a:off x="1554480" y="361188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Workers’ rights, immigration &amp; family referrals</a:t>
            </a:r>
            <a:endParaRPr lang="en-US" sz="1250" dirty="0"/>
          </a:p>
        </p:txBody>
      </p:sp>
      <p:sp>
        <p:nvSpPr>
          <p:cNvPr id="16" name="Shape 11"/>
          <p:cNvSpPr/>
          <p:nvPr/>
        </p:nvSpPr>
        <p:spPr>
          <a:xfrm>
            <a:off x="6355080" y="3337560"/>
            <a:ext cx="566928" cy="566928"/>
          </a:xfrm>
          <a:prstGeom prst="ellipse">
            <a:avLst/>
          </a:prstGeom>
          <a:solidFill>
            <a:srgbClr val="3D6B3A"/>
          </a:solidFill>
          <a:ln/>
        </p:spPr>
      </p:sp>
      <p:pic>
        <p:nvPicPr>
          <p:cNvPr id="17" name="Image 3" descr="preencoded.png">    </p:cNvPr>
          <p:cNvPicPr>
            <a:picLocks noChangeAspect="1"/>
          </p:cNvPicPr>
          <p:nvPr/>
        </p:nvPicPr>
        <p:blipFill>
          <a:blip r:embed="rId4"/>
          <a:stretch>
            <a:fillRect/>
          </a:stretch>
        </p:blipFill>
        <p:spPr>
          <a:xfrm>
            <a:off x="6496812" y="3479292"/>
            <a:ext cx="283464" cy="283464"/>
          </a:xfrm>
          <a:prstGeom prst="rect">
            <a:avLst/>
          </a:prstGeom>
        </p:spPr>
      </p:pic>
      <p:sp>
        <p:nvSpPr>
          <p:cNvPr id="18" name="Text 12"/>
          <p:cNvSpPr/>
          <p:nvPr/>
        </p:nvSpPr>
        <p:spPr>
          <a:xfrm>
            <a:off x="7086600" y="329184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Partner &amp; pilot</a:t>
            </a:r>
            <a:endParaRPr lang="en-US" sz="1500" dirty="0"/>
          </a:p>
        </p:txBody>
      </p:sp>
      <p:sp>
        <p:nvSpPr>
          <p:cNvPr id="19" name="Text 13"/>
          <p:cNvSpPr/>
          <p:nvPr/>
        </p:nvSpPr>
        <p:spPr>
          <a:xfrm>
            <a:off x="7086600" y="361188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Work with legal-aid orgs; pilot with a community group</a:t>
            </a:r>
            <a:endParaRPr lang="en-US" sz="1250" dirty="0"/>
          </a:p>
        </p:txBody>
      </p:sp>
      <p:sp>
        <p:nvSpPr>
          <p:cNvPr id="20" name="Shape 14"/>
          <p:cNvSpPr/>
          <p:nvPr/>
        </p:nvSpPr>
        <p:spPr>
          <a:xfrm>
            <a:off x="822960" y="4572000"/>
            <a:ext cx="566928" cy="566928"/>
          </a:xfrm>
          <a:prstGeom prst="ellipse">
            <a:avLst/>
          </a:prstGeom>
          <a:solidFill>
            <a:srgbClr val="6B1F2E"/>
          </a:solidFill>
          <a:ln/>
        </p:spPr>
      </p:sp>
      <p:pic>
        <p:nvPicPr>
          <p:cNvPr id="21" name="Image 4" descr="preencoded.png">    </p:cNvPr>
          <p:cNvPicPr>
            <a:picLocks noChangeAspect="1"/>
          </p:cNvPicPr>
          <p:nvPr/>
        </p:nvPicPr>
        <p:blipFill>
          <a:blip r:embed="rId5"/>
          <a:stretch>
            <a:fillRect/>
          </a:stretch>
        </p:blipFill>
        <p:spPr>
          <a:xfrm>
            <a:off x="964692" y="4713732"/>
            <a:ext cx="283464" cy="283464"/>
          </a:xfrm>
          <a:prstGeom prst="rect">
            <a:avLst/>
          </a:prstGeom>
        </p:spPr>
      </p:pic>
      <p:sp>
        <p:nvSpPr>
          <p:cNvPr id="22" name="Text 15"/>
          <p:cNvSpPr/>
          <p:nvPr/>
        </p:nvSpPr>
        <p:spPr>
          <a:xfrm>
            <a:off x="1554480" y="452628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Finish the design</a:t>
            </a:r>
            <a:endParaRPr lang="en-US" sz="1500" dirty="0"/>
          </a:p>
        </p:txBody>
      </p:sp>
      <p:sp>
        <p:nvSpPr>
          <p:cNvPr id="23" name="Text 16"/>
          <p:cNvSpPr/>
          <p:nvPr/>
        </p:nvSpPr>
        <p:spPr>
          <a:xfrm>
            <a:off x="1554480" y="484632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Real photography and the new civic layout</a:t>
            </a:r>
            <a:endParaRPr lang="en-US" sz="1250" dirty="0"/>
          </a:p>
        </p:txBody>
      </p:sp>
      <p:sp>
        <p:nvSpPr>
          <p:cNvPr id="24" name="Shape 17"/>
          <p:cNvSpPr/>
          <p:nvPr/>
        </p:nvSpPr>
        <p:spPr>
          <a:xfrm>
            <a:off x="6355080" y="4572000"/>
            <a:ext cx="566928" cy="566928"/>
          </a:xfrm>
          <a:prstGeom prst="ellipse">
            <a:avLst/>
          </a:prstGeom>
          <a:solidFill>
            <a:srgbClr val="3D6B3A"/>
          </a:solidFill>
          <a:ln/>
        </p:spPr>
      </p:sp>
      <p:pic>
        <p:nvPicPr>
          <p:cNvPr id="25" name="Image 5" descr="preencoded.png">    </p:cNvPr>
          <p:cNvPicPr>
            <a:picLocks noChangeAspect="1"/>
          </p:cNvPicPr>
          <p:nvPr/>
        </p:nvPicPr>
        <p:blipFill>
          <a:blip r:embed="rId6"/>
          <a:stretch>
            <a:fillRect/>
          </a:stretch>
        </p:blipFill>
        <p:spPr>
          <a:xfrm>
            <a:off x="6496812" y="4713732"/>
            <a:ext cx="283464" cy="283464"/>
          </a:xfrm>
          <a:prstGeom prst="rect">
            <a:avLst/>
          </a:prstGeom>
        </p:spPr>
      </p:pic>
      <p:sp>
        <p:nvSpPr>
          <p:cNvPr id="26" name="Text 18"/>
          <p:cNvSpPr/>
          <p:nvPr/>
        </p:nvSpPr>
        <p:spPr>
          <a:xfrm>
            <a:off x="7086600" y="4526280"/>
            <a:ext cx="4572000" cy="320040"/>
          </a:xfrm>
          <a:prstGeom prst="rect">
            <a:avLst/>
          </a:prstGeom>
          <a:noFill/>
          <a:ln/>
        </p:spPr>
        <p:txBody>
          <a:bodyPr wrap="square" lIns="0" tIns="0" rIns="0" bIns="0" rtlCol="0" anchor="ctr"/>
          <a:lstStyle/>
          <a:p>
            <a:pPr indent="0" marL="0">
              <a:buNone/>
            </a:pPr>
            <a:r>
              <a:rPr lang="en-US" sz="1500" b="1" dirty="0">
                <a:solidFill>
                  <a:srgbClr val="15233E"/>
                </a:solidFill>
                <a:latin typeface="Calibri" pitchFamily="34" charset="0"/>
                <a:ea typeface="Calibri" pitchFamily="34" charset="-122"/>
                <a:cs typeface="Calibri" pitchFamily="34" charset="-120"/>
              </a:rPr>
              <a:t>Go statewide</a:t>
            </a:r>
            <a:endParaRPr lang="en-US" sz="1500" dirty="0"/>
          </a:p>
        </p:txBody>
      </p:sp>
      <p:sp>
        <p:nvSpPr>
          <p:cNvPr id="27" name="Text 19"/>
          <p:cNvSpPr/>
          <p:nvPr/>
        </p:nvSpPr>
        <p:spPr>
          <a:xfrm>
            <a:off x="7086600" y="4846320"/>
            <a:ext cx="4572000" cy="548640"/>
          </a:xfrm>
          <a:prstGeom prst="rect">
            <a:avLst/>
          </a:prstGeom>
          <a:noFill/>
          <a:ln/>
        </p:spPr>
        <p:txBody>
          <a:bodyPr wrap="square" lIns="0" tIns="0" rIns="0" bIns="0" rtlCol="0" anchor="ctr"/>
          <a:lstStyle/>
          <a:p>
            <a:pPr indent="0" marL="0">
              <a:lnSpc>
                <a:spcPct val="100000"/>
              </a:lnSpc>
              <a:buNone/>
            </a:pPr>
            <a:r>
              <a:rPr lang="en-US" sz="1250" dirty="0">
                <a:solidFill>
                  <a:srgbClr val="5F5950"/>
                </a:solidFill>
                <a:latin typeface="Calibri" pitchFamily="34" charset="0"/>
                <a:ea typeface="Calibri" pitchFamily="34" charset="-122"/>
                <a:cs typeface="Calibri" pitchFamily="34" charset="-120"/>
              </a:rPr>
              <a:t>Expand coverage across all of Illinois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233E"/>
        </a:solidFill>
      </p:bgPr>
    </p:bg>
    <p:spTree>
      <p:nvGrpSpPr>
        <p:cNvPr id="1" name=""/>
        <p:cNvGrpSpPr/>
        <p:nvPr/>
      </p:nvGrpSpPr>
      <p:grpSpPr>
        <a:xfrm>
          <a:off x="0" y="0"/>
          <a:ext cx="0" cy="0"/>
          <a:chOff x="0" y="0"/>
          <a:chExt cx="0" cy="0"/>
        </a:xfrm>
      </p:grpSpPr>
      <p:sp>
        <p:nvSpPr>
          <p:cNvPr id="2" name="Text 0"/>
          <p:cNvSpPr/>
          <p:nvPr/>
        </p:nvSpPr>
        <p:spPr>
          <a:xfrm>
            <a:off x="822960" y="2286000"/>
            <a:ext cx="10515600" cy="1280160"/>
          </a:xfrm>
          <a:prstGeom prst="rect">
            <a:avLst/>
          </a:prstGeom>
          <a:noFill/>
          <a:ln/>
        </p:spPr>
        <p:txBody>
          <a:bodyPr wrap="square" lIns="0" tIns="0" rIns="0" bIns="0" rtlCol="0" anchor="ctr"/>
          <a:lstStyle/>
          <a:p>
            <a:pPr indent="0" marL="0">
              <a:lnSpc>
                <a:spcPct val="102000"/>
              </a:lnSpc>
              <a:buNone/>
            </a:pPr>
            <a:r>
              <a:rPr lang="en-US" sz="4400" b="1" dirty="0">
                <a:solidFill>
                  <a:srgbClr val="F3EBE0"/>
                </a:solidFill>
                <a:latin typeface="Cambria" pitchFamily="34" charset="0"/>
                <a:ea typeface="Cambria" pitchFamily="34" charset="-122"/>
                <a:cs typeface="Cambria" pitchFamily="34" charset="-120"/>
              </a:rPr>
              <a:t>You don’t have to figure this out alone.</a:t>
            </a:r>
            <a:endParaRPr lang="en-US" sz="4400" dirty="0"/>
          </a:p>
        </p:txBody>
      </p:sp>
      <p:sp>
        <p:nvSpPr>
          <p:cNvPr id="3" name="Text 1"/>
          <p:cNvSpPr/>
          <p:nvPr/>
        </p:nvSpPr>
        <p:spPr>
          <a:xfrm>
            <a:off x="841248" y="3657600"/>
            <a:ext cx="10515600" cy="457200"/>
          </a:xfrm>
          <a:prstGeom prst="rect">
            <a:avLst/>
          </a:prstGeom>
          <a:noFill/>
          <a:ln/>
        </p:spPr>
        <p:txBody>
          <a:bodyPr wrap="square" lIns="0" tIns="0" rIns="0" bIns="0" rtlCol="0" anchor="ctr"/>
          <a:lstStyle/>
          <a:p>
            <a:pPr indent="0" marL="0">
              <a:buNone/>
            </a:pPr>
            <a:r>
              <a:rPr lang="en-US" sz="2200" i="1" dirty="0">
                <a:solidFill>
                  <a:srgbClr val="8FB98C"/>
                </a:solidFill>
                <a:latin typeface="Cambria" pitchFamily="34" charset="0"/>
                <a:ea typeface="Cambria" pitchFamily="34" charset="-122"/>
                <a:cs typeface="Cambria" pitchFamily="34" charset="-120"/>
              </a:rPr>
              <a:t>Rights Within Reach   ·   Know your rights. In your language.</a:t>
            </a:r>
            <a:endParaRPr lang="en-US" sz="2200" dirty="0"/>
          </a:p>
        </p:txBody>
      </p:sp>
      <p:sp>
        <p:nvSpPr>
          <p:cNvPr id="4" name="Shape 2"/>
          <p:cNvSpPr/>
          <p:nvPr/>
        </p:nvSpPr>
        <p:spPr>
          <a:xfrm>
            <a:off x="841248" y="4480560"/>
            <a:ext cx="566928" cy="566928"/>
          </a:xfrm>
          <a:prstGeom prst="ellipse">
            <a:avLst/>
          </a:prstGeom>
          <a:solidFill>
            <a:srgbClr val="6B1F2E"/>
          </a:solidFill>
          <a:ln/>
        </p:spPr>
      </p:sp>
      <p:pic>
        <p:nvPicPr>
          <p:cNvPr id="5" name="Image 0" descr="preencoded.png">    </p:cNvPr>
          <p:cNvPicPr>
            <a:picLocks noChangeAspect="1"/>
          </p:cNvPicPr>
          <p:nvPr/>
        </p:nvPicPr>
        <p:blipFill>
          <a:blip r:embed="rId1"/>
          <a:stretch>
            <a:fillRect/>
          </a:stretch>
        </p:blipFill>
        <p:spPr>
          <a:xfrm>
            <a:off x="982980" y="4622292"/>
            <a:ext cx="283464" cy="283464"/>
          </a:xfrm>
          <a:prstGeom prst="rect">
            <a:avLst/>
          </a:prstGeom>
        </p:spPr>
      </p:pic>
      <p:sp>
        <p:nvSpPr>
          <p:cNvPr id="6" name="Shape 3"/>
          <p:cNvSpPr/>
          <p:nvPr/>
        </p:nvSpPr>
        <p:spPr>
          <a:xfrm>
            <a:off x="1618488" y="4480560"/>
            <a:ext cx="566928" cy="566928"/>
          </a:xfrm>
          <a:prstGeom prst="ellipse">
            <a:avLst/>
          </a:prstGeom>
          <a:solidFill>
            <a:srgbClr val="3D6B3A"/>
          </a:solidFill>
          <a:ln/>
        </p:spPr>
      </p:sp>
      <p:pic>
        <p:nvPicPr>
          <p:cNvPr id="7" name="Image 1" descr="preencoded.png">    </p:cNvPr>
          <p:cNvPicPr>
            <a:picLocks noChangeAspect="1"/>
          </p:cNvPicPr>
          <p:nvPr/>
        </p:nvPicPr>
        <p:blipFill>
          <a:blip r:embed="rId2"/>
          <a:stretch>
            <a:fillRect/>
          </a:stretch>
        </p:blipFill>
        <p:spPr>
          <a:xfrm>
            <a:off x="1760220" y="4622292"/>
            <a:ext cx="283464" cy="283464"/>
          </a:xfrm>
          <a:prstGeom prst="rect">
            <a:avLst/>
          </a:prstGeom>
        </p:spPr>
      </p:pic>
      <p:sp>
        <p:nvSpPr>
          <p:cNvPr id="8" name="Shape 4"/>
          <p:cNvSpPr/>
          <p:nvPr/>
        </p:nvSpPr>
        <p:spPr>
          <a:xfrm>
            <a:off x="2395728" y="4480560"/>
            <a:ext cx="566928" cy="566928"/>
          </a:xfrm>
          <a:prstGeom prst="ellipse">
            <a:avLst/>
          </a:prstGeom>
          <a:solidFill>
            <a:srgbClr val="6B1F2E"/>
          </a:solidFill>
          <a:ln/>
        </p:spPr>
      </p:sp>
      <p:pic>
        <p:nvPicPr>
          <p:cNvPr id="9" name="Image 2" descr="preencoded.png">    </p:cNvPr>
          <p:cNvPicPr>
            <a:picLocks noChangeAspect="1"/>
          </p:cNvPicPr>
          <p:nvPr/>
        </p:nvPicPr>
        <p:blipFill>
          <a:blip r:embed="rId3"/>
          <a:stretch>
            <a:fillRect/>
          </a:stretch>
        </p:blipFill>
        <p:spPr>
          <a:xfrm>
            <a:off x="2537460" y="4622292"/>
            <a:ext cx="283464" cy="283464"/>
          </a:xfrm>
          <a:prstGeom prst="rect">
            <a:avLst/>
          </a:prstGeom>
        </p:spPr>
      </p:pic>
      <p:sp>
        <p:nvSpPr>
          <p:cNvPr id="10" name="Shape 5"/>
          <p:cNvSpPr/>
          <p:nvPr/>
        </p:nvSpPr>
        <p:spPr>
          <a:xfrm>
            <a:off x="3172968" y="4480560"/>
            <a:ext cx="566928" cy="566928"/>
          </a:xfrm>
          <a:prstGeom prst="ellipse">
            <a:avLst/>
          </a:prstGeom>
          <a:solidFill>
            <a:srgbClr val="3D6B3A"/>
          </a:solidFill>
          <a:ln/>
        </p:spPr>
      </p:sp>
      <p:pic>
        <p:nvPicPr>
          <p:cNvPr id="11" name="Image 3" descr="preencoded.png">    </p:cNvPr>
          <p:cNvPicPr>
            <a:picLocks noChangeAspect="1"/>
          </p:cNvPicPr>
          <p:nvPr/>
        </p:nvPicPr>
        <p:blipFill>
          <a:blip r:embed="rId4"/>
          <a:stretch>
            <a:fillRect/>
          </a:stretch>
        </p:blipFill>
        <p:spPr>
          <a:xfrm>
            <a:off x="3314700" y="4622292"/>
            <a:ext cx="283464" cy="283464"/>
          </a:xfrm>
          <a:prstGeom prst="rect">
            <a:avLst/>
          </a:prstGeom>
        </p:spPr>
      </p:pic>
      <p:sp>
        <p:nvSpPr>
          <p:cNvPr id="12" name="Text 6"/>
          <p:cNvSpPr/>
          <p:nvPr/>
        </p:nvSpPr>
        <p:spPr>
          <a:xfrm>
            <a:off x="841248" y="5532120"/>
            <a:ext cx="7315200" cy="365760"/>
          </a:xfrm>
          <a:prstGeom prst="rect">
            <a:avLst/>
          </a:prstGeom>
          <a:noFill/>
          <a:ln/>
        </p:spPr>
        <p:txBody>
          <a:bodyPr wrap="square" lIns="0" tIns="0" rIns="0" bIns="0" rtlCol="0" anchor="ctr"/>
          <a:lstStyle/>
          <a:p>
            <a:pPr indent="0" marL="0">
              <a:buNone/>
            </a:pPr>
            <a:r>
              <a:rPr lang="en-US" sz="1600" b="1" dirty="0">
                <a:solidFill>
                  <a:srgbClr val="F3EBE0"/>
                </a:solidFill>
                <a:latin typeface="Calibri" pitchFamily="34" charset="0"/>
                <a:ea typeface="Calibri" pitchFamily="34" charset="-122"/>
                <a:cs typeface="Calibri" pitchFamily="34" charset="-120"/>
              </a:rPr>
              <a:t>Thank you  ·  Questions?</a:t>
            </a:r>
            <a:endParaRPr lang="en-US" sz="1600" dirty="0"/>
          </a:p>
        </p:txBody>
      </p:sp>
      <p:sp>
        <p:nvSpPr>
          <p:cNvPr id="13" name="Text 7"/>
          <p:cNvSpPr/>
          <p:nvPr/>
        </p:nvSpPr>
        <p:spPr>
          <a:xfrm>
            <a:off x="841248" y="5943600"/>
            <a:ext cx="7315200" cy="365760"/>
          </a:xfrm>
          <a:prstGeom prst="rect">
            <a:avLst/>
          </a:prstGeom>
          <a:noFill/>
          <a:ln/>
        </p:spPr>
        <p:txBody>
          <a:bodyPr wrap="square" lIns="0" tIns="0" rIns="0" bIns="0" rtlCol="0" anchor="ctr"/>
          <a:lstStyle/>
          <a:p>
            <a:pPr indent="0" marL="0">
              <a:buNone/>
            </a:pPr>
            <a:r>
              <a:rPr lang="en-US" sz="1400" dirty="0">
                <a:solidFill>
                  <a:srgbClr val="CFC7BB"/>
                </a:solidFill>
                <a:latin typeface="Calibri" pitchFamily="34" charset="0"/>
                <a:ea typeface="Calibri" pitchFamily="34" charset="-122"/>
                <a:cs typeface="Calibri" pitchFamily="34" charset="-120"/>
              </a:rPr>
              <a:t>lwilliams127@uchicago.edu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2026-07-29T14:35:10Z</dcterms:created>
  <dcterms:modified xsi:type="dcterms:W3CDTF">2026-07-29T14:35:10Z</dcterms:modified>
</cp:coreProperties>
</file>